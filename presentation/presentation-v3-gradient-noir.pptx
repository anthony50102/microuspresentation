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5F5F0"/>
                </a:solidFill>
                <a:latin typeface="Segoe UI"/>
              </a:defRPr>
            </a:pPr>
            <a:r>
              <a:t>The Next Layer</a:t>
            </a:r>
            <a:br/>
            <a:r>
              <a:t>for Digital Twins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8E4D9"/>
                </a:solidFill>
                <a:latin typeface="Segoe UI"/>
              </a:defRPr>
            </a:pPr>
            <a:r>
              <a:t>From Simulation to Autonomous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937760"/>
            <a:ext cx="27432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Anthony Poole  ·  AI Engineer,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Microelectronics US 2026  ·  Embedded Systems Stage  ·  April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0" i="1">
                <a:solidFill>
                  <a:srgbClr val="E8E4D9"/>
                </a:solidFill>
                <a:latin typeface="Segoe UI"/>
              </a:defRPr>
            </a:pPr>
            <a:r>
              <a:t>"Your twins can see everything.</a:t>
            </a:r>
            <a:br/>
            <a:r>
              <a:t>They can't do anything about what they see."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4754880"/>
            <a:ext cx="18288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B7280"/>
                </a:solidFill>
                <a:latin typeface="Segoe UI"/>
              </a:defRPr>
            </a:pPr>
            <a:r>
              <a:t>— The outsider's observation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3200400" cy="22860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Physical</a:t>
            </a:r>
            <a:br/>
            <a:r>
              <a:t>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2286000"/>
            <a:ext cx="3200400" cy="22860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Digital</a:t>
            </a:r>
            <a:br/>
            <a:r>
              <a:t>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4D9"/>
                </a:solidFill>
                <a:latin typeface="Segoe UI"/>
              </a:defRPr>
            </a:pPr>
            <a:r>
              <a:t>Sensors &amp; Data 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8E4D9"/>
                </a:solidFill>
                <a:latin typeface="Segoe UI"/>
              </a:defRPr>
            </a:pPr>
            <a:r>
              <a:t>← 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A virtual model, continuously synced with a physical system.</a:t>
            </a:r>
            <a:br/>
            <a:r>
              <a:t>Most of you know this better than I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 i="0">
                <a:solidFill>
                  <a:srgbClr val="F5F5F0"/>
                </a:solidFill>
                <a:latin typeface="Segoe UI"/>
              </a:defRPr>
            </a:pPr>
            <a:r>
              <a:t>$22,000 /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6B7280"/>
                </a:solidFill>
                <a:latin typeface="Segoe UI"/>
              </a:defRPr>
            </a:pPr>
            <a:r>
              <a:t>The cost of unplanned downtime in automotive manufacturing.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931920"/>
            <a:ext cx="1828800" cy="1371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8E4D9"/>
                </a:solidFill>
                <a:latin typeface="Segoe UI"/>
              </a:defRPr>
            </a:pPr>
            <a:r>
              <a:t>Your systems generate more data every hour</a:t>
            </a:r>
            <a:br/>
            <a:r>
              <a:t>than your teams can act on in a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37744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Gen 1: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"Here's what</a:t>
            </a:r>
            <a:br/>
            <a:r>
              <a:t>it looks like"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B556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645920"/>
            <a:ext cx="237744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Gen 2: Reactive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"Something</a:t>
            </a:r>
            <a:br/>
            <a:r>
              <a:t>went wrong"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B556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237744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Gen 3: Predictive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"Something</a:t>
            </a:r>
            <a:br/>
            <a:r>
              <a:t>will go wrong"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B556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2377440" cy="1097280"/>
          </a:xfrm>
          <a:prstGeom prst="roundRect">
            <a:avLst/>
          </a:prstGeom>
          <a:noFill/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E4D9"/>
                </a:solidFill>
                <a:latin typeface="Segoe UI"/>
              </a:defRPr>
            </a:pPr>
            <a:r>
              <a:t>Gen 4: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E8E4D9"/>
                </a:solidFill>
                <a:latin typeface="Segoe UI"/>
              </a:defRPr>
            </a:pPr>
            <a:r>
              <a:t>Each generation gets smarter about what's happening.</a:t>
            </a:r>
            <a:br/>
            <a:r>
              <a:t>But the human is still the one who decides what to do about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 i="0">
                <a:solidFill>
                  <a:srgbClr val="F5F5F0"/>
                </a:solidFill>
                <a:latin typeface="Segoe UI"/>
              </a:defRPr>
            </a:pPr>
            <a:r>
              <a:t>2:00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E4D9"/>
                </a:solidFill>
                <a:latin typeface="Segoe UI"/>
              </a:defRPr>
            </a:pPr>
            <a:r>
              <a:t>An etch chamber starts drifting.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108960"/>
            <a:ext cx="13716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E8E4D9"/>
                </a:solidFill>
                <a:latin typeface="Segoe UI"/>
              </a:defRPr>
            </a:pPr>
            <a:r>
              <a:t>The twin detected the anomaly in 30 seconds.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000" b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6B7280"/>
                </a:solidFill>
                <a:latin typeface="Segoe UI"/>
              </a:defRPr>
            </a:pPr>
            <a:r>
              <a:t>But it didn't know it was a failing heater element.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6B7280"/>
                </a:solidFill>
                <a:latin typeface="Segoe UI"/>
              </a:defRPr>
            </a:pPr>
            <a:r>
              <a:t>It didn't know this happened six months ago on another chamber.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6B7280"/>
                </a:solidFill>
                <a:latin typeface="Segoe UI"/>
              </a:defRPr>
            </a:pPr>
            <a:r>
              <a:t>It didn't know there was a replacement part in inventory.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000" b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F5F5F0"/>
                </a:solidFill>
                <a:latin typeface="Segoe UI"/>
              </a:defRPr>
            </a:pPr>
            <a:r>
              <a:t>A human figured all of that out. Fourteen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5F5F0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E4D9"/>
                </a:solidFill>
                <a:latin typeface="Segoe UI"/>
              </a:defRPr>
            </a:pPr>
            <a:r>
              <a:t>Autonomous AI systems that can reason, plan, and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What Makes an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2377440" cy="9144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Acts within defined boundaries</a:t>
            </a:r>
            <a:br/>
            <a:r>
              <a:t>without 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0"/>
            <a:ext cx="2377440" cy="9144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Breaks complex problems into</a:t>
            </a:r>
            <a:br/>
            <a:r>
              <a:t>multi-step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377440" cy="9144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Tool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Connects to real systems,</a:t>
            </a:r>
            <a:br/>
            <a:r>
              <a:t>APIs, and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828800"/>
            <a:ext cx="2377440" cy="9144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Evaluates its own actions</a:t>
            </a:r>
            <a:br/>
            <a:r>
              <a:t>and adjusts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E8E4D9"/>
                </a:solidFill>
                <a:latin typeface="Segoe UI"/>
              </a:defRPr>
            </a:pPr>
            <a:r>
              <a:t>Reflection is the one that matters most — the agent checks its own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1371600"/>
            <a:ext cx="4572000" cy="4572000"/>
          </a:xfrm>
          <a:prstGeom prst="ellipse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0"/>
                </a:solidFill>
                <a:latin typeface="Segoe UI"/>
              </a:defRPr>
            </a:pPr>
            <a:r>
              <a:t>Digital</a:t>
            </a:r>
            <a:br/>
            <a:r>
              <a:t>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The data. The models.</a:t>
            </a:r>
            <a:br/>
            <a:r>
              <a:t>The simulation.</a:t>
            </a:r>
          </a:p>
        </p:txBody>
      </p:sp>
      <p:sp>
        <p:nvSpPr>
          <p:cNvPr id="5" name="Oval 4"/>
          <p:cNvSpPr/>
          <p:nvPr/>
        </p:nvSpPr>
        <p:spPr>
          <a:xfrm>
            <a:off x="5303520" y="1371600"/>
            <a:ext cx="4572000" cy="4572000"/>
          </a:xfrm>
          <a:prstGeom prst="ellipse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0"/>
                </a:solidFill>
                <a:latin typeface="Segoe UI"/>
              </a:defRPr>
            </a:pPr>
            <a:r>
              <a:t>Agentic</a:t>
            </a:r>
            <a:br/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206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The reasoning. The planning.</a:t>
            </a:r>
            <a:br/>
            <a:r>
              <a:t>The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200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E8E4D9"/>
                </a:solidFill>
                <a:latin typeface="Segoe UI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1371600"/>
            <a:ext cx="4572000" cy="4572000"/>
          </a:xfrm>
          <a:prstGeom prst="ellipse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0"/>
                </a:solidFill>
                <a:latin typeface="Segoe UI"/>
              </a:defRPr>
            </a:pPr>
            <a:r>
              <a:t>Digital</a:t>
            </a:r>
            <a:br/>
            <a:r>
              <a:t>Twins</a:t>
            </a:r>
          </a:p>
        </p:txBody>
      </p:sp>
      <p:sp>
        <p:nvSpPr>
          <p:cNvPr id="4" name="Oval 3"/>
          <p:cNvSpPr/>
          <p:nvPr/>
        </p:nvSpPr>
        <p:spPr>
          <a:xfrm>
            <a:off x="5303520" y="1371600"/>
            <a:ext cx="4572000" cy="4572000"/>
          </a:xfrm>
          <a:prstGeom prst="ellipse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F5F0"/>
                </a:solidFill>
                <a:latin typeface="Segoe UI"/>
              </a:defRPr>
            </a:pPr>
            <a:r>
              <a:t>Agentic</a:t>
            </a:r>
            <a:br/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9260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F5F0"/>
                </a:solidFill>
                <a:latin typeface="Segoe UI"/>
              </a:defRPr>
            </a:pPr>
            <a:r>
              <a:t>The twin</a:t>
            </a:r>
            <a:br/>
            <a:r>
              <a:t>that thinks.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F5F0"/>
                </a:solidFill>
                <a:latin typeface="Segoe UI"/>
              </a:defRPr>
            </a:pPr>
            <a:r>
              <a:t>The Agentic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E4D9"/>
                </a:solidFill>
                <a:latin typeface="Segoe UI"/>
              </a:defRPr>
            </a:pPr>
            <a:r>
              <a:t>A continuous cycle of</a:t>
            </a:r>
            <a:br/>
            <a:r>
              <a:t>perception, reasoning,</a:t>
            </a:r>
            <a:br/>
            <a:r>
              <a:t>and autonomous action.</a:t>
            </a:r>
            <a:br/>
            <a:br/>
            <a:r>
              <a:t>Always watching.</a:t>
            </a:r>
            <a:br/>
            <a:r>
              <a:t>Always reasoning.</a:t>
            </a:r>
            <a:br/>
            <a:r>
              <a:t>Always improving.</a:t>
            </a:r>
          </a:p>
        </p:txBody>
      </p:sp>
      <p:sp>
        <p:nvSpPr>
          <p:cNvPr id="4" name="Oval 3"/>
          <p:cNvSpPr/>
          <p:nvPr/>
        </p:nvSpPr>
        <p:spPr>
          <a:xfrm>
            <a:off x="7132320" y="914400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Perceive</a:t>
            </a:r>
          </a:p>
        </p:txBody>
      </p:sp>
      <p:sp>
        <p:nvSpPr>
          <p:cNvPr id="5" name="Oval 4"/>
          <p:cNvSpPr/>
          <p:nvPr/>
        </p:nvSpPr>
        <p:spPr>
          <a:xfrm>
            <a:off x="9132505" y="2367621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6" name="Oval 5"/>
          <p:cNvSpPr/>
          <p:nvPr/>
        </p:nvSpPr>
        <p:spPr>
          <a:xfrm>
            <a:off x="8368502" y="4718979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7" name="Oval 6"/>
          <p:cNvSpPr/>
          <p:nvPr/>
        </p:nvSpPr>
        <p:spPr>
          <a:xfrm>
            <a:off x="5896138" y="4718979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8" name="Oval 7"/>
          <p:cNvSpPr/>
          <p:nvPr/>
        </p:nvSpPr>
        <p:spPr>
          <a:xfrm>
            <a:off x="5132135" y="2367621"/>
            <a:ext cx="1280160" cy="128016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5F0"/>
                </a:solidFill>
                <a:latin typeface="Segoe UI"/>
              </a:defRPr>
            </a:pPr>
            <a:r>
              <a:t>Reflect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90235" y="1930709"/>
            <a:ext cx="964515" cy="700763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06377" y="3616453"/>
            <a:ext cx="368413" cy="1133854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176298" y="5359059"/>
            <a:ext cx="1192204" cy="0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5970010" y="3616453"/>
            <a:ext cx="368413" cy="1133854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290050" y="1930709"/>
            <a:ext cx="964515" cy="700763"/>
          </a:xfrm>
          <a:prstGeom prst="line">
            <a:avLst/>
          </a:prstGeom>
          <a:ln w="19050">
            <a:solidFill>
              <a:srgbClr val="D4D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6400800" cy="7315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0"/>
                </a:solidFill>
                <a:latin typeface="Segoe UI"/>
              </a:defRPr>
            </a:pPr>
            <a:r>
              <a:t>Natural Language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8E4D9"/>
                </a:solidFill>
                <a:latin typeface="Segoe UI"/>
              </a:defRPr>
            </a:pPr>
            <a:r>
              <a:t>You can talk to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400800" cy="73152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0"/>
                </a:solidFill>
                <a:latin typeface="Segoe UI"/>
              </a:defRPr>
            </a:pPr>
            <a:r>
              <a:t>Agentic Orchestration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8E4D9"/>
                </a:solidFill>
                <a:latin typeface="Segoe UI"/>
              </a:defRPr>
            </a:pPr>
            <a:r>
              <a:t>It reasons &amp;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6400800" cy="7315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0"/>
                </a:solidFill>
                <a:latin typeface="Segoe UI"/>
              </a:defRPr>
            </a:pPr>
            <a:r>
              <a:t>Digital Twin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Physics + ML +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97680"/>
            <a:ext cx="6400800" cy="7315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0"/>
                </a:solidFill>
                <a:latin typeface="Segoe UI"/>
              </a:defRPr>
            </a:pPr>
            <a:r>
              <a:t>Data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IoT, SCADA, MES, ERP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6400800" cy="7315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5F0"/>
                </a:solidFill>
                <a:latin typeface="Segoe UI"/>
              </a:defRPr>
            </a:pPr>
            <a:r>
              <a:t>Physical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Your fab, your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8E4D9"/>
                </a:solidFill>
                <a:latin typeface="Segoe UI"/>
              </a:defRPr>
            </a:pPr>
            <a:r>
              <a:t>← The new 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" cy="12801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IBM — AAAI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First major academic paper on agentic digital twins.</a:t>
            </a:r>
            <a:br/>
            <a:r>
              <a:t>LLM agents for shipping fleet management —</a:t>
            </a:r>
            <a:br/>
            <a:r>
              <a:t>autonomously plan, execute, reflect.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08960"/>
            <a:ext cx="73152" cy="12801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XMPro MAGS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Production multi-agent system for manufacturing.</a:t>
            </a:r>
            <a:br/>
            <a:r>
              <a:t>30–40% reduction in unplanned downtime.</a:t>
            </a:r>
            <a:br/>
            <a:r>
              <a:t>Open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846320"/>
            <a:ext cx="73152" cy="12801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Nature Computational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Published a formal evolutionary framework.</a:t>
            </a:r>
            <a:br/>
            <a:r>
              <a:t>This field has its own taxonomy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Expert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2926080" cy="13716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Monitor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Detects anomalies</a:t>
            </a:r>
            <a:br/>
            <a:r>
              <a:t>in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2926080" cy="13716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Analyst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Investigates</a:t>
            </a:r>
            <a:br/>
            <a:r>
              <a:t>root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2926080" cy="13716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Planner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Schedules optimal</a:t>
            </a:r>
            <a:br/>
            <a:r>
              <a:t>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9418320" cy="640080"/>
          </a:xfrm>
          <a:prstGeom prst="roundRect">
            <a:avLst/>
          </a:prstGeom>
          <a:solidFill>
            <a:srgbClr val="1A2236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E8E4D9"/>
                </a:solidFill>
                <a:latin typeface="Segoe UI"/>
              </a:defRPr>
            </a:pPr>
            <a:r>
              <a:t>Collaborate  ·  Check each other's work  ·  Separation of duties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E8E4D9"/>
                </a:solidFill>
                <a:latin typeface="Segoe UI"/>
              </a:defRPr>
            </a:pPr>
            <a:r>
              <a:t>The agent that proposes an action is never the same one that approves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One Pattern, Three Worlds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320040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Edge AI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Model drift</a:t>
            </a:r>
            <a:br/>
            <a:r>
              <a:t>→ Diagnose</a:t>
            </a:r>
            <a:br/>
            <a:r>
              <a:t>→ Retrain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45920"/>
            <a:ext cx="320040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Robotic 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108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Bearing wear</a:t>
            </a:r>
            <a:br/>
            <a:r>
              <a:t>→ Predict</a:t>
            </a:r>
            <a:br/>
            <a:r>
              <a:t>→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320040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ADAS Sensor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108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Sensor fusion</a:t>
            </a:r>
            <a:br/>
            <a:r>
              <a:t>→ Safety</a:t>
            </a:r>
            <a:br/>
            <a:r>
              <a:t>→ Adapt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E4D9"/>
                </a:solidFill>
                <a:latin typeface="Segoe UI"/>
              </a:defRPr>
            </a:pPr>
            <a:r>
              <a:t>Same loop. Same architecture. Different worlds. The pattern is universal.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What's Coming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645920"/>
            <a:ext cx="45720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Cognitive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E8E4D9"/>
                </a:solidFill>
                <a:latin typeface="Segoe UI"/>
              </a:defRPr>
            </a:pPr>
            <a:r>
              <a:t>The Mind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108960"/>
            <a:ext cx="45720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 i="0">
                <a:solidFill>
                  <a:srgbClr val="6B7280"/>
                </a:solidFill>
                <a:latin typeface="Segoe UI"/>
              </a:defRPr>
            </a:pPr>
            <a:r>
              <a:t>The Mirror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572000"/>
            <a:ext cx="45720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Physical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 i="0">
                <a:solidFill>
                  <a:srgbClr val="6B7280"/>
                </a:solidFill>
                <a:latin typeface="Segoe UI"/>
              </a:defRPr>
            </a:pPr>
            <a:r>
              <a:t>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E8E4D9"/>
                </a:solidFill>
                <a:latin typeface="Segoe UI"/>
              </a:defRPr>
            </a:pPr>
            <a:r>
              <a:t>Not just reflecting reality — understanding it.</a:t>
            </a:r>
            <a:br/>
            <a:r>
              <a:t>Modeling the why, not just the what.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Let's Be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08760"/>
            <a:ext cx="73152" cy="8229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When the agent decides wrong, who owns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73152" cy="8229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Can you trace why it made that call?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77640"/>
            <a:ext cx="73152" cy="8229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New attack surfaces we haven't fully mapped.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212080"/>
            <a:ext cx="73152" cy="8229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623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Our frameworks weren't built for autonomous agents.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E8E4D9"/>
                </a:solidFill>
                <a:latin typeface="Segoe UI"/>
              </a:defRPr>
            </a:pPr>
            <a:r>
              <a:t>Solvable problems. But real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5F5F0"/>
                </a:solidFill>
                <a:latin typeface="Segoe UI"/>
              </a:defRPr>
            </a:pPr>
            <a:r>
              <a:t>Digital twins already have the data.</a:t>
            </a:r>
            <a:br/>
            <a:r>
              <a:t>Agentic AI gives them</a:t>
            </a:r>
            <a:br/>
            <a:r>
              <a:t>the ability to act on 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4846320"/>
            <a:ext cx="2743200" cy="1371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4D9"/>
                </a:solidFill>
                <a:latin typeface="Segoe UI"/>
              </a:defRPr>
            </a:pPr>
            <a:r>
              <a:t>The organizations that close the execution gap first</a:t>
            </a:r>
            <a:br/>
            <a:r>
              <a:t>will operate at a speed the rest spend years catching up 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5F5F0"/>
                </a:solidFill>
                <a:latin typeface="Segoe UI"/>
              </a:defRPr>
            </a:pPr>
            <a:r>
              <a:t>Talk to an agentic digital twin yourself.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2560320"/>
            <a:ext cx="3931920" cy="32004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0">
                <a:solidFill>
                  <a:srgbClr val="6B7280"/>
                </a:solidFill>
                <a:latin typeface="Segoe UI"/>
              </a:defRPr>
            </a:pPr>
            <a:r>
              <a:t>[ QR Code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5943600"/>
            <a:ext cx="2286000" cy="54864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4D9"/>
                </a:solidFill>
                <a:latin typeface="Segoe UI"/>
              </a:defRPr>
            </a:pPr>
            <a:r>
              <a:t>Edge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5943600"/>
            <a:ext cx="2286000" cy="54864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4D9"/>
                </a:solidFill>
                <a:latin typeface="Segoe UI"/>
              </a:defRPr>
            </a:pPr>
            <a:r>
              <a:t>Robotic Arm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5943600"/>
            <a:ext cx="2286000" cy="54864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4D9"/>
                </a:solidFill>
                <a:latin typeface="Segoe UI"/>
              </a:defRPr>
            </a:pPr>
            <a:r>
              <a:t>ADAS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5F5F0"/>
                </a:solidFill>
                <a:latin typeface="Segoe UI"/>
              </a:defRPr>
            </a:pPr>
            <a:r>
              <a:t>Anthony Poole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E4D9"/>
                </a:solidFill>
                <a:latin typeface="Segoe UI"/>
              </a:defRPr>
            </a:pPr>
            <a:r>
              <a:t>AI Engineer, Microsoft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22860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anthonypoole.dev  ·  linkedin.com/in/anthonypoole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4D9"/>
                </a:solidFill>
                <a:latin typeface="Segoe UI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