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E293B"/>
                </a:solidFill>
                <a:latin typeface="Calibri"/>
              </a:defRPr>
            </a:pPr>
            <a:r>
              <a:rPr sz="4200"/>
              <a:t>The Next Layer for Digital Twins: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563EB"/>
                </a:solidFill>
                <a:latin typeface="Calibri"/>
              </a:defRPr>
            </a:pPr>
            <a:r>
              <a:t>From Simulation to Autonomous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Anthony Poole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Microelectronics US 2026  •  April 22–23  •  Austin, TX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566928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Today's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017520" cy="3200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563E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Where digital twins are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017520" cy="32004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017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The 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Where digital twins meet AI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017520" cy="32004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2011680"/>
            <a:ext cx="30175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D948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What's Ahead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40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next chapter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~30% Foundation   •   ~50% Convergence   •   ~20% What's Ahead   •   ~25 min +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What Is a Digital Twin?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Virtual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A high-fidelity digital replica of a physical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Physics-Based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Grounded in first-principles simulation, not just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Bidirectional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Data flows both ways — physical ↔ virtual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2064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Runs ahead of reality to anticipate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828800"/>
            <a:ext cx="4572000" cy="41148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Calibri"/>
              </a:defRPr>
            </a:pPr>
            <a:r>
              <a:t>Physical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sensors  •  actuators  • 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Calibri"/>
              </a:defRPr>
            </a:pPr>
            <a:r>
              <a:t>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simulation  •  prediction  • 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Why Semiconductors Need Digital Twins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Calibri"/>
              </a:defRPr>
            </a:pPr>
            <a:r>
              <a:t>$300M+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Average cost of a single</a:t>
            </a:r>
            <a:br/>
            <a:r>
              <a:t>advanced tape-out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377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C3AED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474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Process steps in a</a:t>
            </a:r>
            <a:br/>
            <a:r>
              <a:t>modern fab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A580C"/>
                </a:solidFill>
                <a:latin typeface="Calibri"/>
              </a:defRPr>
            </a:pPr>
            <a:r>
              <a:t>67,000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Projected semiconductor</a:t>
            </a:r>
            <a:br/>
            <a:r>
              <a:t>workforce shortage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  <a:latin typeface="Calibri"/>
              </a:defRPr>
            </a:pPr>
            <a:r>
              <a:t>6-24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4747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Typical time from design</a:t>
            </a:r>
            <a:br/>
            <a:r>
              <a:t>to first 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Virtual prototyping isn't optional at this scale — it's the only way to iterate fast enough.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Digital Twin Stack in Semiconductors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118872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Calibri"/>
              </a:defRPr>
            </a:pPr>
            <a:r>
              <a:t>Facility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Full-fab simulation — equipment, logistics, 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9144000" cy="11887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Process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Etch, deposition, litho, CMP — modeling each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937760"/>
            <a:ext cx="9144000" cy="11887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93776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Device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Transistor-level simulation — FinFET, GAA, TCAD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Each level can have its own digital twin — or they can be connected into a hierarchy.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Digital Twins in Industry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651760"/>
            <a:ext cx="15544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NVIDIA Omniverse-powered fab twin</a:t>
            </a:r>
            <a:br/>
            <a:r>
              <a:t>Full 3D virtual 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TSMC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651760"/>
            <a:ext cx="155448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Process-level twins for yield optimization</a:t>
            </a:r>
            <a:br/>
            <a:r>
              <a:t>Deep integration with EDA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9488"/>
                </a:solidFill>
                <a:latin typeface="Calibri"/>
              </a:defRPr>
            </a:pPr>
            <a:r>
              <a:t>Intel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651760"/>
            <a:ext cx="155448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Predictive maintenance across fabs</a:t>
            </a:r>
            <a:br/>
            <a:r>
              <a:t>Equipment health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  <a:latin typeface="Calibri"/>
              </a:defRPr>
            </a:pPr>
            <a:r>
              <a:t>Siemens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651760"/>
            <a:ext cx="155448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9260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End-to-end digital thread</a:t>
            </a:r>
            <a:br/>
            <a:r>
              <a:t>Design through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Real deployments, real results — digital twins are already part of the semiconductor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Where Things Stand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41148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What digital twins do well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✓  High-fidelity physics simulation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✓  Real-time monitoring &amp;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✓  Scenario testing &amp; what-if analysis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✓  Historical data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46320" cy="41148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Calibri"/>
              </a:defRPr>
            </a:pPr>
            <a:r>
              <a:t>But there's still a gap...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→  Someone has to interpret the data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→  Someone has to decide what to do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→  Someone has to initiate the action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→  The twin observes — a human closes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Evolution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Fixed model</a:t>
            </a:r>
            <a:br/>
            <a:r>
              <a:t>Manual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2860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Live data feeds</a:t>
            </a:r>
            <a:br/>
            <a:r>
              <a:t>Alerts &amp;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ML models</a:t>
            </a:r>
            <a:br/>
            <a:r>
              <a:t>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28600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Calibri"/>
              </a:defRPr>
            </a:pPr>
            <a:r>
              <a:t>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91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What comes</a:t>
            </a:r>
            <a:br/>
            <a:r>
              <a:t>next?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Each generation adds more intelligence. There's a clear pattern — and a logical next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Enter: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Autonomous systems that can perceive, reason, plan, and act — not just respond.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Operates without constant human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Breaks complex tasks into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Tool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Calls APIs, runs simulations, queries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Reflection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Evaluates its own reasoning and corrects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  <a:latin typeface="Calibri"/>
              </a:defRPr>
            </a:pPr>
            <a:r>
              <a:t>What if the digital twin could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  <a:latin typeface="Calibri"/>
              </a:defRPr>
            </a:pPr>
            <a:r>
              <a:t>close the loop itself?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5720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Digital twins have: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5120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Data  •  Models  • 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57200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AI agents have: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120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Reasoning  •  Planning  • 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846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580C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Agentic Digital Twin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Perceive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Ingest real-time</a:t>
            </a:r>
            <a:br/>
            <a:r>
              <a:t>sensor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Calibri"/>
              </a:defRPr>
            </a:pPr>
            <a:r>
              <a:t>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Analyze patterns</a:t>
            </a:r>
            <a:br/>
            <a:r>
              <a:t>&amp; root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2860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Generate action</a:t>
            </a:r>
            <a:br/>
            <a:r>
              <a:t>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22860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Execute decisions</a:t>
            </a:r>
            <a:br/>
            <a:r>
              <a:t>autonomously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Reflect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0175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Evaluate outcomes</a:t>
            </a:r>
            <a:br/>
            <a:r>
              <a:t>&amp; 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← continuous loop — the twin learns and improves with every cycle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This isn't science fiction — it's the logical extension of what digital twins and AI agents already do separately.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Research &amp; Real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6576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IBM — AAAI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LLM + knowledge graph for shipping</a:t>
            </a:r>
            <a:br/>
            <a:r>
              <a:t>digital twins. Neuro-symbolic approach.</a:t>
            </a:r>
            <a:br/>
            <a:r>
              <a:t>Presented at top AI conference.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36576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2918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XMPro MAGS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Production multi-agent system for</a:t>
            </a:r>
            <a:br/>
            <a:r>
              <a:t>industrial twins. Open source.</a:t>
            </a:r>
            <a:br/>
            <a:r>
              <a:t>Observe-Reflect-Plan-Act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36576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Calibri"/>
              </a:defRPr>
            </a:pPr>
            <a:r>
              <a:t>Industry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30–40% downtime reduction</a:t>
            </a:r>
            <a:br/>
            <a:r>
              <a:t>25% faster anomaly resolution</a:t>
            </a:r>
            <a:br/>
            <a:r>
              <a:t>Energy savings of 15–20%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This isn't theoretical — researchers and companies are building these systems right now.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Multi-Agent Systems: Specialized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017520" cy="34747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🔍 Monitor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83464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Watches sensor streams</a:t>
            </a:r>
            <a:br/>
            <a:r>
              <a:t>Detects anomalies</a:t>
            </a:r>
            <a:br/>
            <a:r>
              <a:t>Classifies 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017520" cy="34747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🧠 Analyst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834640"/>
            <a:ext cx="1828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Pulls historical data</a:t>
            </a:r>
            <a:br/>
            <a:r>
              <a:t>Correlates patterns</a:t>
            </a:r>
            <a:br/>
            <a:r>
              <a:t>Identifies 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017520" cy="347472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Calibri"/>
              </a:defRPr>
            </a:pPr>
            <a:r>
              <a:t>📋 Planner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834640"/>
            <a:ext cx="1828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1089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Generates recommendations</a:t>
            </a:r>
            <a:br/>
            <a:r>
              <a:t>Schedules actions</a:t>
            </a:r>
            <a:br/>
            <a:r>
              <a:t>Minimizes disruption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Like a team of specialists — each agent brings expertise, and together they handle complex scenarios.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73152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Multi-Agent Fab Monitor — AI agents respond to a simulated fab anomaly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📊 Sensor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plots from simulated fab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75488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🤖 Agent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Watch agents think in 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75488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📋 Action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Decisions and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What You Just Saw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57200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Anomaly injected into etch chamber — temperature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743200"/>
            <a:ext cx="457200" cy="4572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Monitor Agent detected and classified the anomaly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457200" cy="4572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Analyst Agent correlated with historical data — identified likely root cause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572000"/>
            <a:ext cx="457200" cy="457200"/>
          </a:xfrm>
          <a:prstGeom prst="roundRect">
            <a:avLst>
              <a:gd name="adj" fmla="val 4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Planner Agent scheduled preventive maintenance — minimal production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486400"/>
            <a:ext cx="457200" cy="4572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32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Full reasoning chain visible and auditable at every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75569"/>
                </a:solidFill>
                <a:latin typeface="Calibri"/>
              </a:defRPr>
            </a:pPr>
            <a:r>
              <a:t>No human in the loop — but every decision is explainable.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What's Coming Next: The Digital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Cognitive 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Autonomous reasoning, planning, and decision-making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017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38328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3832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Digital Twin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Simulation, monitoring, and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754880"/>
            <a:ext cx="8229600" cy="10972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75488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Calibri"/>
              </a:defRPr>
            </a:pPr>
            <a:r>
              <a:t>Physical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Sensors, actuators, real-world 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'triplet' concept adds a cognitive layer — turning observation into autonomous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Challenges We Need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Calibri"/>
              </a:defRPr>
            </a:pPr>
            <a:r>
              <a:t>Accountability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834640"/>
            <a:ext cx="155448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When an agent makes a decision</a:t>
            </a:r>
            <a:br/>
            <a:r>
              <a:t>that costs money, who's responsible?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834640"/>
            <a:ext cx="155448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Black-box decisions aren't acceptable</a:t>
            </a:r>
            <a:br/>
            <a:r>
              <a:t>in safety-critical 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834640"/>
            <a:ext cx="155448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Autonomous agents with access to</a:t>
            </a:r>
            <a:br/>
            <a:r>
              <a:t>fab controls need serious guardrails.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834640"/>
            <a:ext cx="15544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31089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Getting operators to trust autonomous</a:t>
            </a:r>
            <a:br/>
            <a:r>
              <a:t>decisions takes time and transparency.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These are real, hard problems — and they're exactly what this community is equipped to solve.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Digital twins are already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They're deployed in major fabs — simulation, monitoring, prediction.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AI agents add the missing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Reasoning, planning, and autonomous action on top of the twin's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4864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Calibri"/>
              </a:defRPr>
            </a:pPr>
            <a:r>
              <a:t>The convergence is happening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IBM, XMPro, and others are building agentic digital twins today.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20640"/>
            <a:ext cx="54864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Calibri"/>
              </a:defRPr>
            </a:pPr>
            <a:r>
              <a:t>Start thinking about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question isn't whether — it's when and how you'll integrate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563E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389120"/>
            <a:ext cx="3931920" cy="16459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Anthony Poole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Microelectronics US 2026</a:t>
            </a:r>
            <a:br/>
            <a:r>
              <a:t>April 22–23  •  Austin, TX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6217920"/>
            <a:ext cx="2286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