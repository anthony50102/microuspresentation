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5F5F0"/>
                </a:solidFill>
                <a:latin typeface="Segoe UI"/>
              </a:defRPr>
            </a:pPr>
            <a:r>
              <a:t>The Next Layer</a:t>
            </a:r>
            <a:br/>
            <a:r>
              <a:t>for Digital Twins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8E4D9"/>
                </a:solidFill>
                <a:latin typeface="Segoe UI"/>
              </a:defRPr>
            </a:pPr>
            <a:r>
              <a:t>From Simulation to Autonomous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937760"/>
            <a:ext cx="2743200" cy="10972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Anthony Poole  ·  AI Engineer,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Microelectronics US 2026  ·  Embedded Systems Stage  ·  April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 i="0">
                <a:solidFill>
                  <a:srgbClr val="F5F5F0"/>
                </a:solidFill>
                <a:latin typeface="Segoe UI"/>
              </a:defRPr>
            </a:pPr>
            <a:r>
              <a:t>$22,000 /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6B7280"/>
                </a:solidFill>
                <a:latin typeface="Segoe UI"/>
              </a:defRPr>
            </a:pPr>
            <a:r>
              <a:t>The cost of unplanned downtime in automotive manufacturing.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931920"/>
            <a:ext cx="1828800" cy="13716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8E4D9"/>
                </a:solidFill>
                <a:latin typeface="Segoe UI"/>
              </a:defRPr>
            </a:pPr>
            <a:r>
              <a:t>Your systems generate more data every hour</a:t>
            </a:r>
            <a:br/>
            <a:r>
              <a:t>than your teams can act on in a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F5F0"/>
                </a:solidFill>
                <a:latin typeface="Segoe UI"/>
              </a:defRPr>
            </a:pPr>
            <a:r>
              <a:t>The Agentic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8E4D9"/>
                </a:solidFill>
                <a:latin typeface="Segoe UI"/>
              </a:defRPr>
            </a:pPr>
            <a:r>
              <a:t>A continuous cycle of</a:t>
            </a:r>
            <a:br/>
            <a:r>
              <a:t>perception, reasoning,</a:t>
            </a:r>
            <a:br/>
            <a:r>
              <a:t>and autonomous action.</a:t>
            </a:r>
            <a:br/>
            <a:br/>
            <a:r>
              <a:t>Always watching.</a:t>
            </a:r>
            <a:br/>
            <a:r>
              <a:t>Always reasoning.</a:t>
            </a:r>
            <a:br/>
            <a:r>
              <a:t>Always improving.</a:t>
            </a:r>
          </a:p>
        </p:txBody>
      </p:sp>
      <p:sp>
        <p:nvSpPr>
          <p:cNvPr id="4" name="Oval 3"/>
          <p:cNvSpPr/>
          <p:nvPr/>
        </p:nvSpPr>
        <p:spPr>
          <a:xfrm>
            <a:off x="7132320" y="914400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Perceive</a:t>
            </a:r>
          </a:p>
        </p:txBody>
      </p:sp>
      <p:sp>
        <p:nvSpPr>
          <p:cNvPr id="5" name="Oval 4"/>
          <p:cNvSpPr/>
          <p:nvPr/>
        </p:nvSpPr>
        <p:spPr>
          <a:xfrm>
            <a:off x="9132505" y="2367621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6" name="Oval 5"/>
          <p:cNvSpPr/>
          <p:nvPr/>
        </p:nvSpPr>
        <p:spPr>
          <a:xfrm>
            <a:off x="8368502" y="4718979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7" name="Oval 6"/>
          <p:cNvSpPr/>
          <p:nvPr/>
        </p:nvSpPr>
        <p:spPr>
          <a:xfrm>
            <a:off x="5896138" y="4718979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8" name="Oval 7"/>
          <p:cNvSpPr/>
          <p:nvPr/>
        </p:nvSpPr>
        <p:spPr>
          <a:xfrm>
            <a:off x="5132135" y="2367621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Reflect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90235" y="1930709"/>
            <a:ext cx="964515" cy="700763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206377" y="3616453"/>
            <a:ext cx="368413" cy="1133854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176298" y="5359059"/>
            <a:ext cx="1192204" cy="0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5970010" y="3616453"/>
            <a:ext cx="368413" cy="1133854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290050" y="1930709"/>
            <a:ext cx="964515" cy="700763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