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5F5F0"/>
                </a:solidFill>
                <a:latin typeface="Segoe UI"/>
              </a:defRPr>
            </a:pPr>
            <a:r>
              <a:t>The Next Layer</a:t>
            </a:r>
            <a:br/>
            <a:r>
              <a:t>for Digital Twins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8E4D9"/>
                </a:solidFill>
                <a:latin typeface="Segoe UI"/>
              </a:defRPr>
            </a:pPr>
            <a:r>
              <a:t>From Simulation to Autonomous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937760"/>
            <a:ext cx="2743200" cy="10972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7280"/>
                </a:solidFill>
                <a:latin typeface="Segoe UI"/>
              </a:defRPr>
            </a:pPr>
            <a:r>
              <a:t>Anthony Poole  ·  AI Engineer, Microsoft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Microelectronics US 2026  ·  Embedded Systems Stage  ·  April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E8E4D9"/>
                </a:solidFill>
                <a:latin typeface="Segoe UI"/>
              </a:defRPr>
            </a:pPr>
            <a:r>
              <a:t>Your twins can see everything.</a:t>
            </a:r>
            <a:br/>
            <a:r>
              <a:t>They can't do anything</a:t>
            </a:r>
            <a:br/>
            <a:r>
              <a:t>about what they see.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The Foundation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4389120" cy="36576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5F5F0"/>
                </a:solidFill>
                <a:latin typeface="Segoe UI"/>
              </a:defRPr>
            </a:pPr>
            <a:r>
              <a:t>Physical</a:t>
            </a:r>
            <a:br/>
            <a: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E8E4D9"/>
                </a:solidFill>
                <a:latin typeface="Segoe UI"/>
              </a:defRPr>
            </a:pPr>
            <a:r>
              <a:t>Sensors &amp; Data 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E8E4D9"/>
                </a:solidFill>
                <a:latin typeface="Segoe UI"/>
              </a:defRPr>
            </a:pPr>
            <a:r>
              <a:t>←  Simulation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645920"/>
            <a:ext cx="4389120" cy="36576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5F5F0"/>
                </a:solidFill>
                <a:latin typeface="Segoe UI"/>
              </a:defRPr>
            </a:pPr>
            <a:r>
              <a:t>Digital</a:t>
            </a:r>
            <a:br/>
            <a:r>
              <a:t>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7280"/>
                </a:solidFill>
                <a:latin typeface="Segoe UI"/>
              </a:defRPr>
            </a:pPr>
            <a:r>
              <a:t>A virtual model, continuously synced with a physical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188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5F5F0"/>
                </a:solidFill>
                <a:latin typeface="Segoe UI"/>
              </a:defRPr>
            </a:pPr>
            <a:r>
              <a:t>$22K /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Automotive</a:t>
            </a:r>
            <a:br/>
            <a:r>
              <a:t>downtime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5F5F0"/>
                </a:solidFill>
                <a:latin typeface="Segoe UI"/>
              </a:defRPr>
            </a:pPr>
            <a:r>
              <a:t>$X /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94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Semiconductor</a:t>
            </a:r>
            <a:br/>
            <a:r>
              <a:t>fab downtime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188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5F5F0"/>
                </a:solidFill>
                <a:latin typeface="Segoe UI"/>
              </a:defRPr>
            </a:pPr>
            <a:r>
              <a:t>$X /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194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Energy grid</a:t>
            </a:r>
            <a:br/>
            <a:r>
              <a:t>outage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657600"/>
            <a:ext cx="1828800" cy="13716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E8E4D9"/>
                </a:solidFill>
                <a:latin typeface="Segoe UI"/>
              </a:defRPr>
            </a:pPr>
            <a:r>
              <a:t>Your systems generate more data every hour</a:t>
            </a:r>
            <a:br/>
            <a:r>
              <a:t>than your teams can act on in a week.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The Evolution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2468880" cy="11887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5F0"/>
                </a:solidFill>
                <a:latin typeface="Segoe UI"/>
              </a:defRPr>
            </a:pPr>
            <a:r>
              <a:t>Gen 1: Static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B7280"/>
                </a:solidFill>
                <a:latin typeface="Segoe UI"/>
              </a:defRPr>
            </a:pPr>
            <a:r>
              <a:t>"Here's what</a:t>
            </a:r>
            <a:br/>
            <a:r>
              <a:t>it looks like"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8288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4B556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645920"/>
            <a:ext cx="2468880" cy="11887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5F0"/>
                </a:solidFill>
                <a:latin typeface="Segoe UI"/>
              </a:defRPr>
            </a:pPr>
            <a:r>
              <a:t>Gen 2: Reactive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30175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B7280"/>
                </a:solidFill>
                <a:latin typeface="Segoe UI"/>
              </a:defRPr>
            </a:pPr>
            <a:r>
              <a:t>"Something</a:t>
            </a:r>
            <a:br/>
            <a:r>
              <a:t>went wrong"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79" y="18288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4B556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2468880" cy="11887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5F0"/>
                </a:solidFill>
                <a:latin typeface="Segoe UI"/>
              </a:defRPr>
            </a:pPr>
            <a:r>
              <a:t>Gen 3: Predictive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0175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B7280"/>
                </a:solidFill>
                <a:latin typeface="Segoe UI"/>
              </a:defRPr>
            </a:pPr>
            <a:r>
              <a:t>"Something</a:t>
            </a:r>
            <a:br/>
            <a:r>
              <a:t>will go wrong"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4B556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645920"/>
            <a:ext cx="2468880" cy="1188720"/>
          </a:xfrm>
          <a:prstGeom prst="roundRect">
            <a:avLst/>
          </a:prstGeom>
          <a:noFill/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8E4D9"/>
                </a:solidFill>
                <a:latin typeface="Segoe UI"/>
              </a:defRPr>
            </a:pPr>
            <a:r>
              <a:t>Gen 4: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E8E4D9"/>
                </a:solidFill>
                <a:latin typeface="Segoe UI"/>
              </a:defRPr>
            </a:pPr>
            <a:r>
              <a:t>Each generation gets smarter about what's happening.</a:t>
            </a:r>
            <a:br/>
            <a:r>
              <a:t>But the human is still the one who decides what to do about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6309360"/>
          </a:xfrm>
          <a:prstGeom prst="roundRect">
            <a:avLst/>
          </a:prstGeom>
          <a:solidFill>
            <a:srgbClr val="0B112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5F5F0"/>
                </a:solidFill>
                <a:latin typeface="Segoe UI"/>
              </a:defRPr>
            </a:pPr>
            <a:r>
              <a:t>2:00 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7280"/>
                </a:solidFill>
                <a:latin typeface="Segoe UI"/>
              </a:defRPr>
            </a:pPr>
            <a:r>
              <a:t>Etch chamber 3 — temperature drift detected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560320"/>
            <a:ext cx="1371600" cy="10972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8E4D9"/>
                </a:solidFill>
                <a:latin typeface="Segoe UI"/>
              </a:defRPr>
            </a:pPr>
            <a:r>
              <a:t>The twin detected: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Temperature crossing a threshold. That's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8E4D9"/>
                </a:solidFill>
                <a:latin typeface="Segoe UI"/>
              </a:defRPr>
            </a:pPr>
            <a:r>
              <a:t>The twin didn't know: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6B7280"/>
                </a:solidFill>
                <a:latin typeface="Segoe UI"/>
              </a:defRPr>
            </a:pPr>
            <a:r>
              <a:t>It was a failing heater element.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6B7280"/>
                </a:solidFill>
                <a:latin typeface="Segoe UI"/>
              </a:defRPr>
            </a:pPr>
            <a:r>
              <a:t>This happened 6 months ago on another chamber.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6B7280"/>
                </a:solidFill>
                <a:latin typeface="Segoe UI"/>
              </a:defRPr>
            </a:pPr>
            <a:r>
              <a:t>A replacement part was already in inventory.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Detected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3832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E8E4D9"/>
                </a:solidFill>
                <a:latin typeface="Segoe UI"/>
              </a:defRPr>
            </a:pPr>
            <a:r>
              <a:t>30 seconds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Resolved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8463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5F5F0"/>
                </a:solidFill>
                <a:latin typeface="Segoe UI"/>
              </a:defRPr>
            </a:pPr>
            <a:r>
              <a:t>14 hours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F5F5F0"/>
                </a:solidFill>
                <a:latin typeface="Segoe UI"/>
              </a:defRPr>
            </a:pPr>
            <a:r>
              <a:t>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8E4D9"/>
                </a:solidFill>
                <a:latin typeface="Segoe UI"/>
              </a:defRPr>
            </a:pPr>
            <a:r>
              <a:t>Autonomous AI systems that can reason, plan, and 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What Makes an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468880" cy="10972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F5F0"/>
                </a:solidFill>
                <a:latin typeface="Segoe UI"/>
              </a:defRPr>
            </a:pPr>
            <a:r>
              <a:t>Autonomy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200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B7280"/>
                </a:solidFill>
                <a:latin typeface="Segoe UI"/>
              </a:defRPr>
            </a:pPr>
            <a:r>
              <a:t>Acts within defined</a:t>
            </a:r>
            <a:br/>
            <a:r>
              <a:t>boundaries without</a:t>
            </a:r>
            <a:br/>
            <a:r>
              <a:t>prompting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828800"/>
            <a:ext cx="2468880" cy="10972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F5F0"/>
                </a:solidFill>
                <a:latin typeface="Segoe UI"/>
              </a:defRPr>
            </a:pPr>
            <a:r>
              <a:t>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199" y="3200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B7280"/>
                </a:solidFill>
                <a:latin typeface="Segoe UI"/>
              </a:defRPr>
            </a:pPr>
            <a:r>
              <a:t>Breaks complex problems</a:t>
            </a:r>
            <a:br/>
            <a:r>
              <a:t>into multi-step</a:t>
            </a:r>
            <a:br/>
            <a:r>
              <a:t>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2468880" cy="10972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F5F0"/>
                </a:solidFill>
                <a:latin typeface="Segoe UI"/>
              </a:defRPr>
            </a:pPr>
            <a:r>
              <a:t>Tool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3200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B7280"/>
                </a:solidFill>
                <a:latin typeface="Segoe UI"/>
              </a:defRPr>
            </a:pPr>
            <a:r>
              <a:t>Connects to real</a:t>
            </a:r>
            <a:br/>
            <a:r>
              <a:t>systems, APIs,</a:t>
            </a:r>
            <a:br/>
            <a:r>
              <a:t>and databases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828800"/>
            <a:ext cx="2468880" cy="10972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F5F0"/>
                </a:solidFill>
                <a:latin typeface="Segoe UI"/>
              </a:defRPr>
            </a:pPr>
            <a:r>
              <a:t>Reflection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200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6B7280"/>
                </a:solidFill>
                <a:latin typeface="Segoe UI"/>
              </a:defRPr>
            </a:pPr>
            <a:r>
              <a:t>Evaluates its own</a:t>
            </a:r>
            <a:br/>
            <a:r>
              <a:t>actions and adjusts</a:t>
            </a:r>
            <a:br/>
            <a:r>
              <a:t>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0" y="1097280"/>
            <a:ext cx="5029200" cy="5029200"/>
          </a:xfrm>
          <a:prstGeom prst="ellipse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0312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5F5F0"/>
                </a:solidFill>
                <a:latin typeface="Segoe UI"/>
              </a:defRPr>
            </a:pPr>
            <a:r>
              <a:t>Digital</a:t>
            </a:r>
            <a:br/>
            <a:r>
              <a:t>Twins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41148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The data.</a:t>
            </a:r>
            <a:br/>
            <a:r>
              <a:t>The models.</a:t>
            </a:r>
            <a:br/>
            <a:r>
              <a:t>The simulation.</a:t>
            </a:r>
          </a:p>
        </p:txBody>
      </p:sp>
      <p:sp>
        <p:nvSpPr>
          <p:cNvPr id="5" name="Oval 4"/>
          <p:cNvSpPr/>
          <p:nvPr/>
        </p:nvSpPr>
        <p:spPr>
          <a:xfrm>
            <a:off x="5486400" y="1097280"/>
            <a:ext cx="5029200" cy="5029200"/>
          </a:xfrm>
          <a:prstGeom prst="ellipse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5F5F0"/>
                </a:solidFill>
                <a:latin typeface="Segoe UI"/>
              </a:defRPr>
            </a:pPr>
            <a:r>
              <a:t>Agentic</a:t>
            </a:r>
            <a:br/>
            <a: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41148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The reasoning.</a:t>
            </a:r>
            <a:br/>
            <a:r>
              <a:t>The planning.</a:t>
            </a:r>
            <a:br/>
            <a:r>
              <a:t>The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01752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E8E4D9"/>
                </a:solidFill>
                <a:latin typeface="Segoe UI"/>
              </a:defRPr>
            </a:pPr>
            <a:r>
              <a:t>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5F5F0"/>
                </a:solidFill>
                <a:latin typeface="Segoe UI"/>
              </a:defRPr>
            </a:pPr>
            <a:r>
              <a:t>The twin that thinks.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The Agentic Control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743200"/>
            <a:ext cx="1828800" cy="10972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5F0"/>
                </a:solidFill>
                <a:latin typeface="Segoe UI"/>
              </a:defRPr>
            </a:pPr>
            <a:r>
              <a:t>Perceive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971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D4D0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743200"/>
            <a:ext cx="1828800" cy="10972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5F0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2971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D4D0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743200"/>
            <a:ext cx="1828800" cy="10972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5F0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2971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D4D0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743200"/>
            <a:ext cx="1828800" cy="10972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5F0"/>
                </a:solidFill>
                <a:latin typeface="Segoe UI"/>
              </a:defRPr>
            </a:pPr>
            <a:r>
              <a:t>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9718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D4D0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2743200"/>
            <a:ext cx="1828800" cy="109728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F5F0"/>
                </a:solidFill>
                <a:latin typeface="Segoe UI"/>
              </a:defRPr>
            </a:pPr>
            <a:r>
              <a:t>Reflect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4114800"/>
            <a:ext cx="9144000" cy="13716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38605" y="3840480"/>
            <a:ext cx="13716" cy="288036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82605" y="3840480"/>
            <a:ext cx="13716" cy="288036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B7280"/>
                </a:solidFill>
                <a:latin typeface="Segoe UI"/>
              </a:defRPr>
            </a:pPr>
            <a:r>
              <a:t>Continuous feedback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E8E4D9"/>
                </a:solidFill>
                <a:latin typeface="Segoe UI"/>
              </a:defRPr>
            </a:pPr>
            <a:r>
              <a:t>Perceive the environment. Reason about causes. Plan a response.</a:t>
            </a:r>
            <a:br/>
            <a:r>
              <a:t>Act through connected systems. Reflect on outcomes.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0" y="1188720"/>
            <a:ext cx="7772400" cy="11887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8E4D9"/>
                </a:solidFill>
                <a:latin typeface="Segoe UI"/>
              </a:defRPr>
            </a:pPr>
            <a:r>
              <a:t>Cognitive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 i="0">
                <a:solidFill>
                  <a:srgbClr val="E8E4D9"/>
                </a:solidFill>
                <a:latin typeface="Segoe UI"/>
              </a:defRPr>
            </a:pPr>
            <a:r>
              <a:t>The Mind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2743200"/>
            <a:ext cx="7772400" cy="11887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F5F0"/>
                </a:solidFill>
                <a:latin typeface="Segoe UI"/>
              </a:defRPr>
            </a:pPr>
            <a:r>
              <a:t>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 i="0">
                <a:solidFill>
                  <a:srgbClr val="6B7280"/>
                </a:solidFill>
                <a:latin typeface="Segoe UI"/>
              </a:defRPr>
            </a:pPr>
            <a:r>
              <a:t>The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4297680"/>
            <a:ext cx="7772400" cy="11887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F5F0"/>
                </a:solidFill>
                <a:latin typeface="Segoe UI"/>
              </a:defRPr>
            </a:pPr>
            <a:r>
              <a:t>Physical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 i="0">
                <a:solidFill>
                  <a:srgbClr val="6B7280"/>
                </a:solidFill>
                <a:latin typeface="Segoe UI"/>
              </a:defRPr>
            </a:pPr>
            <a:r>
              <a:t>The Real 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E8E4D9"/>
                </a:solidFill>
                <a:latin typeface="Segoe UI"/>
              </a:defRPr>
            </a:pPr>
            <a:r>
              <a:t>Everything below the top layer already exists.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The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280160"/>
            <a:ext cx="73152" cy="1280160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5F5F0"/>
                </a:solidFill>
                <a:latin typeface="Segoe UI"/>
              </a:defRPr>
            </a:pPr>
            <a:r>
              <a:t>IBM — AAAI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7373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First major academic paper on agentic digital twins.</a:t>
            </a:r>
            <a:br/>
            <a:r>
              <a:t>LLM agents for shipping fleet management —</a:t>
            </a:r>
            <a:br/>
            <a:r>
              <a:t>autonomously plan, execute, reflect.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017520"/>
            <a:ext cx="73152" cy="1280160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5F5F0"/>
                </a:solidFill>
                <a:latin typeface="Segoe UI"/>
              </a:defRPr>
            </a:pPr>
            <a:r>
              <a:t>XMPro MAGS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Production multi-agent system for manufacturing.</a:t>
            </a:r>
            <a:br/>
            <a:r>
              <a:t>30–40% reduction in unplanned downtime.</a:t>
            </a:r>
            <a:br/>
            <a:r>
              <a:t>Open source.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754879"/>
            <a:ext cx="73152" cy="1280160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7548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5F5F0"/>
                </a:solidFill>
                <a:latin typeface="Segoe UI"/>
              </a:defRPr>
            </a:pPr>
            <a:r>
              <a:t>Nature Computational Science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21207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Published a formal evolutionary framework.</a:t>
            </a:r>
            <a:br/>
            <a:r>
              <a:t>This field has its own taxonomy now.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Multi-Agent Systems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011680"/>
            <a:ext cx="3200400" cy="18288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F5F0"/>
                </a:solidFill>
                <a:latin typeface="Segoe UI"/>
              </a:defRPr>
            </a:pPr>
            <a:r>
              <a:t>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6B7280"/>
                </a:solidFill>
                <a:latin typeface="Segoe UI"/>
              </a:defRPr>
            </a:pPr>
            <a:r>
              <a:t>Detects anomalies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24688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4D0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011680"/>
            <a:ext cx="3200400" cy="18288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F5F0"/>
                </a:solidFill>
                <a:latin typeface="Segoe UI"/>
              </a:defRPr>
            </a:pPr>
            <a:r>
              <a:t>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4023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6B7280"/>
                </a:solidFill>
                <a:latin typeface="Segoe UI"/>
              </a:defRPr>
            </a:pPr>
            <a:r>
              <a:t>Finds root causes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4688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D4D0C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011680"/>
            <a:ext cx="3200400" cy="18288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F5F0"/>
                </a:solidFill>
                <a:latin typeface="Segoe UI"/>
              </a:defRPr>
            </a:pPr>
            <a:r>
              <a:t>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023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6B7280"/>
                </a:solidFill>
                <a:latin typeface="Segoe UI"/>
              </a:defRPr>
            </a:pPr>
            <a:r>
              <a:t>Schedules responses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E8E4D9"/>
                </a:solidFill>
                <a:latin typeface="Segoe UI"/>
              </a:defRPr>
            </a:pPr>
            <a:r>
              <a:t>Specialized agents. Collaborate and check each other's work.</a:t>
            </a:r>
            <a:br/>
            <a:r>
              <a:t>The agent that proposes is never the one that approves.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One Pattern, Three Worlds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91840" cy="11887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F5F0"/>
                </a:solidFill>
                <a:latin typeface="Segoe UI"/>
              </a:defRPr>
            </a:pPr>
            <a:r>
              <a:t>Edge AI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1089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7280"/>
                </a:solidFill>
                <a:latin typeface="Segoe UI"/>
              </a:defRPr>
            </a:pPr>
            <a:r>
              <a:t>Model drift</a:t>
            </a:r>
            <a:br/>
            <a:r>
              <a:t>→ Diagnose</a:t>
            </a:r>
            <a:br/>
            <a:r>
              <a:t>→ Retrain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645920"/>
            <a:ext cx="3291840" cy="11887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F5F0"/>
                </a:solidFill>
                <a:latin typeface="Segoe UI"/>
              </a:defRPr>
            </a:pPr>
            <a:r>
              <a:t>Robotic 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1089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7280"/>
                </a:solidFill>
                <a:latin typeface="Segoe UI"/>
              </a:defRPr>
            </a:pPr>
            <a:r>
              <a:t>Bearing wear</a:t>
            </a:r>
            <a:br/>
            <a:r>
              <a:t>→ Predict</a:t>
            </a:r>
            <a:br/>
            <a:r>
              <a:t>→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645920"/>
            <a:ext cx="3291840" cy="118872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5F5F0"/>
                </a:solidFill>
                <a:latin typeface="Segoe UI"/>
              </a:defRPr>
            </a:pPr>
            <a:r>
              <a:t>ADAS Sensor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310896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7280"/>
                </a:solidFill>
                <a:latin typeface="Segoe UI"/>
              </a:defRPr>
            </a:pPr>
            <a:r>
              <a:t>Sensor fusion</a:t>
            </a:r>
            <a:br/>
            <a:r>
              <a:t>→ Safety</a:t>
            </a:r>
            <a:br/>
            <a:r>
              <a:t>→ Adapt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8E4D9"/>
                </a:solidFill>
                <a:latin typeface="Segoe UI"/>
              </a:defRPr>
            </a:pPr>
            <a:r>
              <a:t>Same loop. Same architecture. Different worlds.</a:t>
            </a:r>
            <a:br/>
            <a:r>
              <a:t>The pattern is universal.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B5563"/>
                </a:solidFill>
                <a:latin typeface="Segoe UI"/>
              </a:defRPr>
            </a:pPr>
            <a:r>
              <a:t>Let's Be Honest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25880"/>
            <a:ext cx="73152" cy="731520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5F5F0"/>
                </a:solidFill>
                <a:latin typeface="Segoe UI"/>
              </a:defRPr>
            </a:pPr>
            <a:r>
              <a:t>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6B7280"/>
                </a:solidFill>
                <a:latin typeface="Segoe UI"/>
              </a:defRPr>
            </a:pPr>
            <a:r>
              <a:t>When the agent decides wrong, who owns it?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514600"/>
            <a:ext cx="73152" cy="731520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5F5F0"/>
                </a:solidFill>
                <a:latin typeface="Segoe UI"/>
              </a:defRPr>
            </a:pPr>
            <a:r>
              <a:t>Explainability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80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6B7280"/>
                </a:solidFill>
                <a:latin typeface="Segoe UI"/>
              </a:defRPr>
            </a:pPr>
            <a:r>
              <a:t>Can you trace why it made that call?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703320"/>
            <a:ext cx="73152" cy="731520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5F5F0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069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6B7280"/>
                </a:solidFill>
                <a:latin typeface="Segoe UI"/>
              </a:defRPr>
            </a:pPr>
            <a:r>
              <a:t>New attack surfaces we haven't fully mapped.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892040"/>
            <a:ext cx="73152" cy="731520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5F5F0"/>
                </a:solidFill>
                <a:latin typeface="Segoe UI"/>
              </a:defRPr>
            </a:pPr>
            <a:r>
              <a:t>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57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6B7280"/>
                </a:solidFill>
                <a:latin typeface="Segoe UI"/>
              </a:defRPr>
            </a:pPr>
            <a:r>
              <a:t>Our frameworks weren't built for autonomous agents.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5F5F0"/>
                </a:solidFill>
                <a:latin typeface="Segoe UI"/>
              </a:defRPr>
            </a:pPr>
            <a:r>
              <a:t>Talk to an agentic digital twin yourself.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2286000"/>
            <a:ext cx="3931920" cy="320040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D4D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0">
                <a:solidFill>
                  <a:srgbClr val="6B7280"/>
                </a:solidFill>
                <a:latin typeface="Segoe UI"/>
              </a:defRPr>
            </a:pPr>
            <a:r>
              <a:t>[ QR Code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5760720"/>
            <a:ext cx="2286000" cy="54864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4D9"/>
                </a:solidFill>
                <a:latin typeface="Segoe UI"/>
              </a:defRPr>
            </a:pPr>
            <a:r>
              <a:t>Edge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5760720"/>
            <a:ext cx="2286000" cy="54864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4D9"/>
                </a:solidFill>
                <a:latin typeface="Segoe UI"/>
              </a:defRPr>
            </a:pPr>
            <a:r>
              <a:t>Robotic Arm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5760720"/>
            <a:ext cx="2286000" cy="548640"/>
          </a:xfrm>
          <a:prstGeom prst="roundRect">
            <a:avLst/>
          </a:prstGeom>
          <a:solidFill>
            <a:srgbClr val="151D3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E8E4D9"/>
                </a:solidFill>
                <a:latin typeface="Segoe UI"/>
              </a:defRPr>
            </a:pPr>
            <a:r>
              <a:t>ADAS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1E2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1">
                <a:solidFill>
                  <a:srgbClr val="E8E4D9"/>
                </a:solidFill>
                <a:latin typeface="Segoe UI"/>
              </a:defRPr>
            </a:pPr>
            <a:r>
              <a:t>Digital twins already have the data.</a:t>
            </a:r>
            <a:br/>
            <a:r>
              <a:t>Agentic AI gives them the ability to act on it.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3200400"/>
            <a:ext cx="2286000" cy="10972"/>
          </a:xfrm>
          <a:prstGeom prst="rect">
            <a:avLst/>
          </a:prstGeom>
          <a:solidFill>
            <a:srgbClr val="D4D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5F5F0"/>
                </a:solidFill>
                <a:latin typeface="Segoe UI"/>
              </a:defRPr>
            </a:pPr>
            <a:r>
              <a:t>Anthony Poole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480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8E4D9"/>
                </a:solidFill>
                <a:latin typeface="Segoe UI"/>
              </a:defRPr>
            </a:pPr>
            <a:r>
              <a:t>AI Engineer, Microsoft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7280"/>
                </a:solidFill>
                <a:latin typeface="Segoe UI"/>
              </a:defRPr>
            </a:pPr>
            <a:r>
              <a:t>anthonypoole.dev  ·  linkedin.com/in/anthonypoole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8E4D9"/>
                </a:solidFill>
                <a:latin typeface="Segoe UI"/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