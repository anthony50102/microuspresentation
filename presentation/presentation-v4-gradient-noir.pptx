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5F5F0"/>
                </a:solidFill>
                <a:latin typeface="Segoe UI"/>
              </a:defRPr>
            </a:pPr>
            <a:r>
              <a:t>The Next Layer</a:t>
            </a:r>
            <a:br/>
            <a:r>
              <a:t>for Digital Twins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 i="0">
                <a:solidFill>
                  <a:srgbClr val="E8E4D9"/>
                </a:solidFill>
                <a:latin typeface="Segoe UI"/>
              </a:defRPr>
            </a:pPr>
            <a:r>
              <a:t>From Simulation to Autonomous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4937760"/>
            <a:ext cx="2743200" cy="10972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5166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7280"/>
                </a:solidFill>
                <a:latin typeface="Segoe UI"/>
              </a:defRPr>
            </a:pPr>
            <a:r>
              <a:t>Anthony Poole  ·  AI Engineer, Microsoft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B5563"/>
                </a:solidFill>
                <a:latin typeface="Segoe UI"/>
              </a:defRPr>
            </a:pPr>
            <a:r>
              <a:t>Microelectronics US 2026  ·  Embedded Systems Stage  ·  April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B5563"/>
                </a:solidFill>
                <a:latin typeface="Segoe UI"/>
              </a:defRPr>
            </a:pPr>
            <a:r>
              <a:t>The Foundation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4389120" cy="365760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F5F5F0"/>
                </a:solidFill>
                <a:latin typeface="Segoe UI"/>
              </a:defRPr>
            </a:pPr>
            <a:r>
              <a:t>Physical</a:t>
            </a:r>
            <a:br/>
            <a:r>
              <a:t>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80" y="20116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 i="0">
                <a:solidFill>
                  <a:srgbClr val="E8E4D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7280"/>
                </a:solidFill>
                <a:latin typeface="Segoe UI"/>
              </a:defRPr>
            </a:pPr>
            <a:r>
              <a:t>Sensors &amp;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365760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 i="0">
                <a:solidFill>
                  <a:srgbClr val="E8E4D9"/>
                </a:solidFill>
                <a:latin typeface="Segoe UI"/>
              </a:defRPr>
            </a:pPr>
            <a:r>
              <a:t>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4389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7280"/>
                </a:solidFill>
                <a:latin typeface="Segoe UI"/>
              </a:defRPr>
            </a:pPr>
            <a:r>
              <a:t>Simulation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1645920"/>
            <a:ext cx="4389120" cy="365760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F5F5F0"/>
                </a:solidFill>
                <a:latin typeface="Segoe UI"/>
              </a:defRPr>
            </a:pPr>
            <a:r>
              <a:t>Digital</a:t>
            </a:r>
            <a:br/>
            <a:r>
              <a:t>Twin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6B7280"/>
                </a:solidFill>
                <a:latin typeface="Segoe UI"/>
              </a:defRPr>
            </a:pPr>
            <a:r>
              <a:t>A virtual model, continuously synced with a physical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1887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F5F5F0"/>
                </a:solidFill>
                <a:latin typeface="Segoe UI"/>
              </a:defRPr>
            </a:pPr>
            <a:r>
              <a:t>$22K /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7280"/>
                </a:solidFill>
                <a:latin typeface="Segoe UI"/>
              </a:defRPr>
            </a:pPr>
            <a:r>
              <a:t>Automotive</a:t>
            </a:r>
            <a:br/>
            <a:r>
              <a:t>downtime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1887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F5F5F0"/>
                </a:solidFill>
                <a:latin typeface="Segoe UI"/>
              </a:defRPr>
            </a:pPr>
            <a:r>
              <a:t>$X /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21945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7280"/>
                </a:solidFill>
                <a:latin typeface="Segoe UI"/>
              </a:defRPr>
            </a:pPr>
            <a:r>
              <a:t>Semiconductor</a:t>
            </a:r>
            <a:br/>
            <a:r>
              <a:t>fab downtime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887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F5F5F0"/>
                </a:solidFill>
                <a:latin typeface="Segoe UI"/>
              </a:defRPr>
            </a:pPr>
            <a:r>
              <a:t>$X /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945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7280"/>
                </a:solidFill>
                <a:latin typeface="Segoe UI"/>
              </a:defRPr>
            </a:pPr>
            <a:r>
              <a:t>Energy grid</a:t>
            </a:r>
            <a:br/>
            <a:r>
              <a:t>outage 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657600"/>
            <a:ext cx="1828800" cy="13716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02336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E8E4D9"/>
                </a:solidFill>
                <a:latin typeface="Segoe UI"/>
              </a:defRPr>
            </a:pPr>
            <a:r>
              <a:t>Your systems generate more data every hour</a:t>
            </a:r>
            <a:br/>
            <a:r>
              <a:t>than your teams can act on in a week.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B5563"/>
                </a:solidFill>
                <a:latin typeface="Segoe UI"/>
              </a:defRPr>
            </a:pPr>
            <a:r>
              <a:t>The Evolution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6607" y="1645920"/>
            <a:ext cx="246888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F5F0"/>
                </a:solidFill>
                <a:latin typeface="Segoe UI"/>
              </a:defRPr>
            </a:pPr>
            <a:r>
              <a:t>Gen 1: Static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6607" y="301752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6B7280"/>
                </a:solidFill>
                <a:latin typeface="Segoe UI"/>
              </a:defRPr>
            </a:pPr>
            <a:r>
              <a:t>"Here's what</a:t>
            </a:r>
            <a:br/>
            <a:r>
              <a:t>it looks like"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15487" y="1920240"/>
            <a:ext cx="274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4B5563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89807" y="1645920"/>
            <a:ext cx="246888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F5F0"/>
                </a:solidFill>
                <a:latin typeface="Segoe UI"/>
              </a:defRPr>
            </a:pPr>
            <a:r>
              <a:t>Gen 2: Reactive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89807" y="301752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6B7280"/>
                </a:solidFill>
                <a:latin typeface="Segoe UI"/>
              </a:defRPr>
            </a:pPr>
            <a:r>
              <a:t>"Something</a:t>
            </a:r>
            <a:br/>
            <a:r>
              <a:t>went wrong"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58687" y="1920240"/>
            <a:ext cx="274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4B5563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645920"/>
            <a:ext cx="246888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F5F0"/>
                </a:solidFill>
                <a:latin typeface="Segoe UI"/>
              </a:defRPr>
            </a:pPr>
            <a:r>
              <a:t>Gen 3: Predictive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007" y="301752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6B7280"/>
                </a:solidFill>
                <a:latin typeface="Segoe UI"/>
              </a:defRPr>
            </a:pPr>
            <a:r>
              <a:t>"Something</a:t>
            </a:r>
            <a:br/>
            <a:r>
              <a:t>will go wrong"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1887" y="1920240"/>
            <a:ext cx="274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4B5563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6207" y="1645920"/>
            <a:ext cx="2468880" cy="1188720"/>
          </a:xfrm>
          <a:prstGeom prst="roundRect">
            <a:avLst/>
          </a:prstGeom>
          <a:noFill/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E8E4D9"/>
                </a:solidFill>
                <a:latin typeface="Segoe UI"/>
              </a:defRPr>
            </a:pPr>
            <a:r>
              <a:t>Gen 4: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7548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 i="0">
                <a:solidFill>
                  <a:srgbClr val="E8E4D9"/>
                </a:solidFill>
                <a:latin typeface="Segoe UI"/>
              </a:defRPr>
            </a:pPr>
            <a:r>
              <a:t>Each generation gets smarter about what's happening.</a:t>
            </a:r>
            <a:br/>
            <a:r>
              <a:t>But the human is still the one who decides what to do about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 i="0">
                <a:solidFill>
                  <a:srgbClr val="E8E4D9"/>
                </a:solidFill>
                <a:latin typeface="Segoe UI"/>
              </a:defRPr>
            </a:pPr>
            <a:r>
              <a:t>Digital twins can see everything.</a:t>
            </a:r>
            <a:br/>
            <a:r>
              <a:t>They can't do anything</a:t>
            </a:r>
            <a:br/>
            <a:r>
              <a:t>about what they see.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0">
                <a:solidFill>
                  <a:srgbClr val="F5F5F0"/>
                </a:solidFill>
                <a:latin typeface="Segoe UI"/>
              </a:defRPr>
            </a:pPr>
            <a:r>
              <a:t>2:14 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 i="0">
                <a:solidFill>
                  <a:srgbClr val="F5F5F0"/>
                </a:solidFill>
                <a:latin typeface="Segoe UI"/>
              </a:defRPr>
            </a:pPr>
            <a:r>
              <a:t>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6576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8E4D9"/>
                </a:solidFill>
                <a:latin typeface="Segoe UI"/>
              </a:defRPr>
            </a:pPr>
            <a:r>
              <a:t>Autonomous AI systems that can reason, plan, and act.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B5563"/>
                </a:solidFill>
                <a:latin typeface="Segoe UI"/>
              </a:defRPr>
            </a:pPr>
            <a:r>
              <a:t>What Makes an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6607" y="1828800"/>
            <a:ext cx="246888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F5F0"/>
                </a:solidFill>
                <a:latin typeface="Segoe UI"/>
              </a:defRPr>
            </a:pPr>
            <a:r>
              <a:t>Autonomy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3767" y="32004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6B7280"/>
                </a:solidFill>
                <a:latin typeface="Segoe UI"/>
              </a:defRPr>
            </a:pPr>
            <a:r>
              <a:t>Acts within defined</a:t>
            </a:r>
            <a:br/>
            <a:r>
              <a:t>boundaries without</a:t>
            </a:r>
            <a:br/>
            <a:r>
              <a:t>prompting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89807" y="1828800"/>
            <a:ext cx="246888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F5F0"/>
                </a:solidFill>
                <a:latin typeface="Segoe UI"/>
              </a:defRPr>
            </a:pPr>
            <a:r>
              <a:t>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26967" y="32004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6B7280"/>
                </a:solidFill>
                <a:latin typeface="Segoe UI"/>
              </a:defRPr>
            </a:pPr>
            <a:r>
              <a:t>Breaks complex problems</a:t>
            </a:r>
            <a:br/>
            <a:r>
              <a:t>into multi-step</a:t>
            </a:r>
            <a:br/>
            <a:r>
              <a:t>workflows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828800"/>
            <a:ext cx="246888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F5F0"/>
                </a:solidFill>
                <a:latin typeface="Segoe UI"/>
              </a:defRPr>
            </a:pPr>
            <a:r>
              <a:t>Tool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32004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6B7280"/>
                </a:solidFill>
                <a:latin typeface="Segoe UI"/>
              </a:defRPr>
            </a:pPr>
            <a:r>
              <a:t>Connects to real</a:t>
            </a:r>
            <a:br/>
            <a:r>
              <a:t>systems, APIs,</a:t>
            </a:r>
            <a:br/>
            <a:r>
              <a:t>and databases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6207" y="1828800"/>
            <a:ext cx="246888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F5F0"/>
                </a:solidFill>
                <a:latin typeface="Segoe UI"/>
              </a:defRPr>
            </a:pPr>
            <a:r>
              <a:t>Reflection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3367" y="32004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6B7280"/>
                </a:solidFill>
                <a:latin typeface="Segoe UI"/>
              </a:defRPr>
            </a:pPr>
            <a:r>
              <a:t>Evaluates its own</a:t>
            </a:r>
            <a:br/>
            <a:r>
              <a:t>actions and adjusts</a:t>
            </a:r>
            <a:br/>
            <a:r>
              <a:t>strategy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645920" y="1097280"/>
            <a:ext cx="5029200" cy="5029200"/>
          </a:xfrm>
          <a:prstGeom prst="ellipse">
            <a:avLst/>
          </a:prstGeom>
          <a:noFill/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03120" y="29260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5F5F0"/>
                </a:solidFill>
                <a:latin typeface="Segoe UI"/>
              </a:defRPr>
            </a:pPr>
            <a:r>
              <a:t>Digital</a:t>
            </a:r>
            <a:br/>
            <a:r>
              <a:t>Twins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41148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7280"/>
                </a:solidFill>
                <a:latin typeface="Segoe UI"/>
              </a:defRPr>
            </a:pPr>
            <a:r>
              <a:t>The data.</a:t>
            </a:r>
            <a:br/>
            <a:r>
              <a:t>The models.</a:t>
            </a:r>
            <a:br/>
            <a:r>
              <a:t>The simulation.</a:t>
            </a:r>
          </a:p>
        </p:txBody>
      </p:sp>
      <p:sp>
        <p:nvSpPr>
          <p:cNvPr id="5" name="Oval 4"/>
          <p:cNvSpPr/>
          <p:nvPr/>
        </p:nvSpPr>
        <p:spPr>
          <a:xfrm>
            <a:off x="5486400" y="1097280"/>
            <a:ext cx="5029200" cy="5029200"/>
          </a:xfrm>
          <a:prstGeom prst="ellipse">
            <a:avLst/>
          </a:prstGeom>
          <a:noFill/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0" y="29260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5F5F0"/>
                </a:solidFill>
                <a:latin typeface="Segoe UI"/>
              </a:defRPr>
            </a:pPr>
            <a:r>
              <a:t>Agentic</a:t>
            </a:r>
            <a:br/>
            <a:r>
              <a:t>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41148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7280"/>
                </a:solidFill>
                <a:latin typeface="Segoe UI"/>
              </a:defRPr>
            </a:pPr>
            <a:r>
              <a:t>The reasoning.</a:t>
            </a:r>
            <a:br/>
            <a:r>
              <a:t>The planning.</a:t>
            </a:r>
            <a:br/>
            <a:r>
              <a:t>The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301752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E8E4D9"/>
                </a:solidFill>
                <a:latin typeface="Segoe UI"/>
              </a:defRPr>
            </a:pPr>
            <a:r>
              <a:t>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5F5F0"/>
                </a:solidFill>
                <a:latin typeface="Segoe UI"/>
              </a:defRPr>
            </a:pPr>
            <a:r>
              <a:t>The twin that thinks.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B5563"/>
                </a:solidFill>
                <a:latin typeface="Segoe UI"/>
              </a:defRPr>
            </a:pPr>
            <a:r>
              <a:t>The Agentic Control Loop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743200"/>
            <a:ext cx="182880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F5F0"/>
                </a:solidFill>
                <a:latin typeface="Segoe UI"/>
              </a:defRPr>
            </a:pPr>
            <a:r>
              <a:t>Perceive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30175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D4D0C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2743200"/>
            <a:ext cx="182880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F5F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30175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D4D0C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2743200"/>
            <a:ext cx="182880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F5F0"/>
                </a:solidFill>
                <a:latin typeface="Segoe UI"/>
              </a:defRPr>
            </a:pPr>
            <a:r>
              <a:t>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8040" y="30175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D4D0C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2743200"/>
            <a:ext cx="182880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F5F0"/>
                </a:solidFill>
                <a:latin typeface="Segoe UI"/>
              </a:defRPr>
            </a:pPr>
            <a:r>
              <a:t>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0" y="30175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D4D0C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75520" y="2743200"/>
            <a:ext cx="182880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F5F0"/>
                </a:solidFill>
                <a:latin typeface="Segoe UI"/>
              </a:defRPr>
            </a:pPr>
            <a:r>
              <a:t>Reflect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5920" y="4114800"/>
            <a:ext cx="9144000" cy="13716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782605" y="3840480"/>
            <a:ext cx="13716" cy="288036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38605" y="3840480"/>
            <a:ext cx="13716" cy="288036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3703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D4D0C8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4206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B7280"/>
                </a:solidFill>
                <a:latin typeface="Segoe UI"/>
              </a:defRPr>
            </a:pPr>
            <a:r>
              <a:t>Continuous feedback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4D9"/>
                </a:solidFill>
                <a:latin typeface="Segoe UI"/>
              </a:defRPr>
            </a:pPr>
            <a:r>
              <a:t>Perceive the environment. Reason about causes. Plan a response.</a:t>
            </a:r>
            <a:br/>
            <a:r>
              <a:t>Act through connected systems. Reflect on outcomes.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926080" y="1188720"/>
            <a:ext cx="777240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E8E4D9"/>
                </a:solidFill>
                <a:latin typeface="Segoe UI"/>
              </a:defRPr>
            </a:pPr>
            <a:r>
              <a:t>Cognitive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 i="0">
                <a:solidFill>
                  <a:srgbClr val="E8E4D9"/>
                </a:solidFill>
                <a:latin typeface="Segoe UI"/>
              </a:defRPr>
            </a:pPr>
            <a:r>
              <a:t>The Mind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2743200"/>
            <a:ext cx="777240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5F5F0"/>
                </a:solidFill>
                <a:latin typeface="Segoe UI"/>
              </a:defRPr>
            </a:pPr>
            <a:r>
              <a:t>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0" i="0">
                <a:solidFill>
                  <a:srgbClr val="6B7280"/>
                </a:solidFill>
                <a:latin typeface="Segoe UI"/>
              </a:defRPr>
            </a:pPr>
            <a:r>
              <a:t>The Mirror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4297680"/>
            <a:ext cx="777240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5F5F0"/>
                </a:solidFill>
                <a:latin typeface="Segoe UI"/>
              </a:defRPr>
            </a:pPr>
            <a:r>
              <a:t>Physical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0" i="0">
                <a:solidFill>
                  <a:srgbClr val="6B7280"/>
                </a:solidFill>
                <a:latin typeface="Segoe UI"/>
              </a:defRPr>
            </a:pPr>
            <a:r>
              <a:t>The Real Thing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B5563"/>
                </a:solidFill>
                <a:latin typeface="Segoe UI"/>
              </a:defRPr>
            </a:pPr>
            <a:r>
              <a:t>The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280160"/>
            <a:ext cx="73152" cy="1280160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280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F5F0"/>
                </a:solidFill>
                <a:latin typeface="Segoe UI"/>
              </a:defRPr>
            </a:pPr>
            <a:r>
              <a:t>IBM — AAAI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7373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7280"/>
                </a:solidFill>
                <a:latin typeface="Segoe UI"/>
              </a:defRPr>
            </a:pPr>
            <a:r>
              <a:t>First major academic paper on agentic digital twins.</a:t>
            </a:r>
            <a:br/>
            <a:r>
              <a:t>LLM agents for shipping fleet management —</a:t>
            </a:r>
            <a:br/>
            <a:r>
              <a:t>autonomously plan, execute, reflect.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017520"/>
            <a:ext cx="73152" cy="1280160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30175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F5F0"/>
                </a:solidFill>
                <a:latin typeface="Segoe UI"/>
              </a:defRPr>
            </a:pPr>
            <a:r>
              <a:t>XMPro MAGS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7280"/>
                </a:solidFill>
                <a:latin typeface="Segoe UI"/>
              </a:defRPr>
            </a:pPr>
            <a:r>
              <a:t>Production multi-agent system for manufacturing.</a:t>
            </a:r>
            <a:br/>
            <a:r>
              <a:t>30–40% reduction in unplanned downtime.</a:t>
            </a:r>
            <a:br/>
            <a:r>
              <a:t>Open source.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754879"/>
            <a:ext cx="73152" cy="1280160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75487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F5F0"/>
                </a:solidFill>
                <a:latin typeface="Segoe UI"/>
              </a:defRPr>
            </a:pPr>
            <a:r>
              <a:t>Nature Computational Science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212079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7280"/>
                </a:solidFill>
                <a:latin typeface="Segoe UI"/>
              </a:defRPr>
            </a:pPr>
            <a:r>
              <a:t>Published a formal evolutionary framework.</a:t>
            </a:r>
            <a:br/>
            <a:r>
              <a:t>This field has its own taxonomy now.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B5563"/>
                </a:solidFill>
                <a:latin typeface="Segoe UI"/>
              </a:defRPr>
            </a:pPr>
            <a:r>
              <a:t>Multi-Agent Systems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9487" y="2011680"/>
            <a:ext cx="3200400" cy="182880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5F5F0"/>
                </a:solidFill>
                <a:latin typeface="Segoe UI"/>
              </a:defRPr>
            </a:pPr>
            <a:r>
              <a:t>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487" y="4023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 i="0">
                <a:solidFill>
                  <a:srgbClr val="6B7280"/>
                </a:solidFill>
                <a:latin typeface="Segoe UI"/>
              </a:defRPr>
            </a:pPr>
            <a:r>
              <a:t>Detects anomalies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29887" y="2560320"/>
            <a:ext cx="365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D4D0C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95647" y="2011680"/>
            <a:ext cx="3200400" cy="182880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5F5F0"/>
                </a:solidFill>
                <a:latin typeface="Segoe UI"/>
              </a:defRPr>
            </a:pPr>
            <a:r>
              <a:t>Analyst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95647" y="4023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 i="0">
                <a:solidFill>
                  <a:srgbClr val="6B7280"/>
                </a:solidFill>
                <a:latin typeface="Segoe UI"/>
              </a:defRPr>
            </a:pPr>
            <a:r>
              <a:t>Finds root causes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6047" y="2560320"/>
            <a:ext cx="365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D4D0C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1807" y="2011680"/>
            <a:ext cx="3200400" cy="182880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5F5F0"/>
                </a:solidFill>
                <a:latin typeface="Segoe UI"/>
              </a:defRPr>
            </a:pPr>
            <a:r>
              <a:t>Planner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1807" y="4023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 i="0">
                <a:solidFill>
                  <a:srgbClr val="6B7280"/>
                </a:solidFill>
                <a:latin typeface="Segoe UI"/>
              </a:defRPr>
            </a:pPr>
            <a:r>
              <a:t>Schedules responses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206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4D9"/>
                </a:solidFill>
                <a:latin typeface="Segoe UI"/>
              </a:defRPr>
            </a:pPr>
            <a:r>
              <a:t>Specialized agents. Collaborate and check each other's work.</a:t>
            </a:r>
            <a:br/>
            <a:r>
              <a:t>The agent that proposes is never the one that approves.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B5563"/>
                </a:solidFill>
                <a:latin typeface="Segoe UI"/>
              </a:defRPr>
            </a:pPr>
            <a:r>
              <a:t>One Pattern, Three Worlds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38047" y="1645920"/>
            <a:ext cx="329184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5F5F0"/>
                </a:solidFill>
                <a:latin typeface="Segoe UI"/>
              </a:defRPr>
            </a:pPr>
            <a:r>
              <a:t>Edge AI Device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2367" y="310896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7280"/>
                </a:solidFill>
                <a:latin typeface="Segoe UI"/>
              </a:defRPr>
            </a:pPr>
            <a:r>
              <a:t>Model drift</a:t>
            </a:r>
            <a:br/>
            <a:r>
              <a:t>→ Diagnose</a:t>
            </a:r>
            <a:br/>
            <a:r>
              <a:t>→ Retrain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49927" y="1645920"/>
            <a:ext cx="329184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5F5F0"/>
                </a:solidFill>
                <a:latin typeface="Segoe UI"/>
              </a:defRPr>
            </a:pPr>
            <a:r>
              <a:t>Robotic Arm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4247" y="310896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7280"/>
                </a:solidFill>
                <a:latin typeface="Segoe UI"/>
              </a:defRPr>
            </a:pPr>
            <a:r>
              <a:t>Bearing wear</a:t>
            </a:r>
            <a:br/>
            <a:r>
              <a:t>→ Predict</a:t>
            </a:r>
            <a:br/>
            <a:r>
              <a:t>→ Schedule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1807" y="1645920"/>
            <a:ext cx="329184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5F5F0"/>
                </a:solidFill>
                <a:latin typeface="Segoe UI"/>
              </a:defRPr>
            </a:pPr>
            <a:r>
              <a:t>ADAS Sensor Suite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6127" y="310896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7280"/>
                </a:solidFill>
                <a:latin typeface="Segoe UI"/>
              </a:defRPr>
            </a:pPr>
            <a:r>
              <a:t>Sensor fusion</a:t>
            </a:r>
            <a:br/>
            <a:r>
              <a:t>→ Safety</a:t>
            </a:r>
            <a:br/>
            <a:r>
              <a:t>→ Adapt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8E4D9"/>
                </a:solidFill>
                <a:latin typeface="Segoe UI"/>
              </a:defRPr>
            </a:pPr>
            <a:r>
              <a:t>Same loop. Same architecture. Different worlds.</a:t>
            </a:r>
            <a:br/>
            <a:r>
              <a:t>The pattern is universal.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B5563"/>
                </a:solidFill>
                <a:latin typeface="Segoe UI"/>
              </a:defRPr>
            </a:pPr>
            <a:r>
              <a:t>Let's Be Honest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25880"/>
            <a:ext cx="73152" cy="731520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280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F5F0"/>
                </a:solidFill>
                <a:latin typeface="Segoe UI"/>
              </a:defRPr>
            </a:pPr>
            <a:r>
              <a:t>Accountability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6916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6B7280"/>
                </a:solidFill>
                <a:latin typeface="Segoe UI"/>
              </a:defRPr>
            </a:pPr>
            <a:r>
              <a:t>When the agent decides wrong, who owns it?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2514600"/>
            <a:ext cx="73152" cy="731520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24688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F5F0"/>
                </a:solidFill>
                <a:latin typeface="Segoe UI"/>
              </a:defRPr>
            </a:pPr>
            <a:r>
              <a:t>Explainability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880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6B7280"/>
                </a:solidFill>
                <a:latin typeface="Segoe UI"/>
              </a:defRPr>
            </a:pPr>
            <a:r>
              <a:t>Can you trace why it made that call?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703320"/>
            <a:ext cx="73152" cy="731520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3657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F5F0"/>
                </a:solidFill>
                <a:latin typeface="Segoe UI"/>
              </a:defRPr>
            </a:pPr>
            <a:r>
              <a:t>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0690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6B7280"/>
                </a:solidFill>
                <a:latin typeface="Segoe UI"/>
              </a:defRPr>
            </a:pPr>
            <a:r>
              <a:t>New attack surfaces we haven't fully mapped.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892040"/>
            <a:ext cx="73152" cy="731520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4846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F5F0"/>
                </a:solidFill>
                <a:latin typeface="Segoe UI"/>
              </a:defRPr>
            </a:pPr>
            <a:r>
              <a:t>Governance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257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6B7280"/>
                </a:solidFill>
                <a:latin typeface="Segoe UI"/>
              </a:defRPr>
            </a:pPr>
            <a:r>
              <a:t>Our frameworks weren't built for autonomous agents.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5F5F0"/>
                </a:solidFill>
                <a:latin typeface="Segoe UI"/>
              </a:defRPr>
            </a:pPr>
            <a:r>
              <a:t>Talk to an agentic digital twin yourself.</a:t>
            </a:r>
          </a:p>
        </p:txBody>
      </p:sp>
      <p:pic>
        <p:nvPicPr>
          <p:cNvPr id="3" name="Picture 2" descr="qr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2286000"/>
            <a:ext cx="3566160" cy="32004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286000" y="5760720"/>
            <a:ext cx="2286000" cy="54864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E8E4D9"/>
                </a:solidFill>
                <a:latin typeface="Segoe UI"/>
              </a:defRPr>
            </a:pPr>
            <a:r>
              <a:t>Edge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80" y="5760720"/>
            <a:ext cx="2286000" cy="54864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E8E4D9"/>
                </a:solidFill>
                <a:latin typeface="Segoe UI"/>
              </a:defRPr>
            </a:pPr>
            <a:r>
              <a:t>Robotic Arm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5760720"/>
            <a:ext cx="2286000" cy="54864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E8E4D9"/>
                </a:solidFill>
                <a:latin typeface="Segoe UI"/>
              </a:defRPr>
            </a:pPr>
            <a:r>
              <a:t>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3550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B7280"/>
                </a:solidFill>
                <a:latin typeface="Segoe UI"/>
              </a:defRPr>
            </a:pPr>
            <a:r>
              <a:t>tonypdemo.it.com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 i="1">
                <a:solidFill>
                  <a:srgbClr val="E8E4D9"/>
                </a:solidFill>
                <a:latin typeface="Segoe UI"/>
              </a:defRPr>
            </a:pPr>
            <a:r>
              <a:t>Digital twins already have the data.</a:t>
            </a:r>
            <a:br/>
            <a:r>
              <a:t>Agentic AI gives them the ability to act on it.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3200400"/>
            <a:ext cx="2286000" cy="10972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5F5F0"/>
                </a:solidFill>
                <a:latin typeface="Segoe UI"/>
              </a:defRPr>
            </a:pPr>
            <a:r>
              <a:t>Anthony Poole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4805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8E4D9"/>
                </a:solidFill>
                <a:latin typeface="Segoe UI"/>
              </a:defRPr>
            </a:pPr>
            <a:r>
              <a:t>AI Engineer, Microsoft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2120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7280"/>
                </a:solidFill>
                <a:latin typeface="Segoe UI"/>
              </a:defRPr>
            </a:pPr>
            <a:r>
              <a:t>anthony50102.github.io  ·  linkedin.com/in/anthony-poole-079548206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943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E8E4D9"/>
                </a:solidFill>
                <a:latin typeface="Segoe UI"/>
              </a:defRPr>
            </a:pPr>
            <a:r>
              <a:t>Thank you.</a:t>
            </a:r>
          </a:p>
        </p:txBody>
      </p:sp>
      <p:pic>
        <p:nvPicPr>
          <p:cNvPr id="8" name="Picture 7" descr="qr-pers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3657600"/>
            <a:ext cx="2194560" cy="2194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0" y="5897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6B7280"/>
                </a:solidFill>
                <a:latin typeface="Segoe UI"/>
              </a:defRPr>
            </a:pPr>
            <a:r>
              <a:t>anthony50102.github.io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