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5F5F0"/>
                </a:solidFill>
                <a:latin typeface="Segoe UI"/>
              </a:defRPr>
            </a:pPr>
            <a:r>
              <a:t>The Next Layer</a:t>
            </a:r>
            <a:br/>
            <a:r>
              <a:t>for Digital Twins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8E4D9"/>
                </a:solidFill>
                <a:latin typeface="Segoe UI"/>
              </a:defRPr>
            </a:pPr>
            <a:r>
              <a:t>From Simulation to Autonomous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937760"/>
            <a:ext cx="27432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5166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Anthony Poole  ·  AI Engineer,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Microelectronics US 2026  ·  Embedded Systems Stage  ·  April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Foundation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4389120" cy="36576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F5F0"/>
                </a:solidFill>
                <a:latin typeface="Segoe UI"/>
              </a:defRPr>
            </a:pPr>
            <a:r>
              <a:t>Physical</a:t>
            </a:r>
            <a:br/>
            <a: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 i="0">
                <a:solidFill>
                  <a:srgbClr val="E8E4D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Sensors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36576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 i="0">
                <a:solidFill>
                  <a:srgbClr val="E8E4D9"/>
                </a:solidFill>
                <a:latin typeface="Segoe UI"/>
              </a:defRPr>
            </a:pPr>
            <a:r>
              <a:t>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Simulation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645920"/>
            <a:ext cx="4389120" cy="36576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F5F0"/>
                </a:solidFill>
                <a:latin typeface="Segoe UI"/>
              </a:defRPr>
            </a:pPr>
            <a:r>
              <a:t>Digital</a:t>
            </a:r>
            <a:br/>
            <a:r>
              <a:t>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6B7280"/>
                </a:solidFill>
                <a:latin typeface="Segoe UI"/>
              </a:defRPr>
            </a:pPr>
            <a:r>
              <a:t>A virtual model, continuously synced with a physical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F5F0"/>
                </a:solidFill>
                <a:latin typeface="Segoe UI"/>
              </a:defRPr>
            </a:pPr>
            <a:r>
              <a:t>$22K /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Automotive</a:t>
            </a:r>
            <a:br/>
            <a:r>
              <a:t>downtime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F5F0"/>
                </a:solidFill>
                <a:latin typeface="Segoe UI"/>
              </a:defRPr>
            </a:pPr>
            <a:r>
              <a:t>$X /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2194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Semiconductor</a:t>
            </a:r>
            <a:br/>
            <a:r>
              <a:t>fab downtime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88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F5F0"/>
                </a:solidFill>
                <a:latin typeface="Segoe UI"/>
              </a:defRPr>
            </a:pPr>
            <a:r>
              <a:t>$X /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94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Energy grid</a:t>
            </a:r>
            <a:br/>
            <a:r>
              <a:t>outage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657600"/>
            <a:ext cx="1828800" cy="1371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02336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4D9"/>
                </a:solidFill>
                <a:latin typeface="Segoe UI"/>
              </a:defRPr>
            </a:pPr>
            <a:r>
              <a:t>Your systems generate more data every hour</a:t>
            </a:r>
            <a:br/>
            <a:r>
              <a:t>than your teams can act on in a week.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Evolution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66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1: Static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6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"Here's what</a:t>
            </a:r>
            <a:br/>
            <a:r>
              <a:t>it looks like"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54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4B5563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98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2: Reactive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98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"Something</a:t>
            </a:r>
            <a:br/>
            <a:r>
              <a:t>went wrong"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586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4B5563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3: Predictive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"Something</a:t>
            </a:r>
            <a:br/>
            <a:r>
              <a:t>will go wrong"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18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4B5563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6207" y="1645920"/>
            <a:ext cx="2468880" cy="1188720"/>
          </a:xfrm>
          <a:prstGeom prst="roundRect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E8E4D9"/>
                </a:solidFill>
                <a:latin typeface="Segoe UI"/>
              </a:defRPr>
            </a:pPr>
            <a:r>
              <a:t>Gen 4: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8E4D9"/>
                </a:solidFill>
                <a:latin typeface="Segoe UI"/>
              </a:defRPr>
            </a:pPr>
            <a:r>
              <a:t>Each generation gets smarter about what's happening.</a:t>
            </a:r>
            <a:br/>
            <a:r>
              <a:t>But the human is still the one who decides what to do about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E8E4D9"/>
                </a:solidFill>
                <a:latin typeface="Segoe UI"/>
              </a:defRPr>
            </a:pPr>
            <a:r>
              <a:t>Digital twins can see everything.</a:t>
            </a:r>
            <a:br/>
            <a:r>
              <a:t>They can't do anything</a:t>
            </a:r>
            <a:br/>
            <a:r>
              <a:t>about what they see.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2:14 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6B7280"/>
                </a:solidFill>
                <a:latin typeface="Segoe UI"/>
              </a:defRPr>
            </a:pPr>
            <a:r>
              <a:t>Etch chamber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8E4D9"/>
                </a:solidFill>
                <a:latin typeface="Segoe UI"/>
              </a:defRPr>
            </a:pPr>
            <a:r>
              <a:t>Autonomous AI systems that can reason, plan, and 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What Makes an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66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37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Acts within defined</a:t>
            </a:r>
            <a:br/>
            <a:r>
              <a:t>boundaries without</a:t>
            </a:r>
            <a:br/>
            <a:r>
              <a:t>prompting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98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Breaks complex problems</a:t>
            </a:r>
            <a:br/>
            <a:r>
              <a:t>into multi-step</a:t>
            </a:r>
            <a:br/>
            <a:r>
              <a:t>workflows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Tool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Connects to real</a:t>
            </a:r>
            <a:br/>
            <a:r>
              <a:t>systems, APIs,</a:t>
            </a:r>
            <a:br/>
            <a:r>
              <a:t>and databases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Reflection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33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6B7280"/>
                </a:solidFill>
                <a:latin typeface="Segoe UI"/>
              </a:defRPr>
            </a:pPr>
            <a:r>
              <a:t>Evaluates its own</a:t>
            </a:r>
            <a:br/>
            <a:r>
              <a:t>actions and adjusts</a:t>
            </a:r>
            <a:br/>
            <a: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645920" y="1097280"/>
            <a:ext cx="5029200" cy="5029200"/>
          </a:xfrm>
          <a:prstGeom prst="ellipse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5F5F0"/>
                </a:solidFill>
                <a:latin typeface="Segoe UI"/>
              </a:defRPr>
            </a:pPr>
            <a:r>
              <a:t>Digital</a:t>
            </a:r>
            <a:br/>
            <a:r>
              <a:t>Twins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4114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The data.</a:t>
            </a:r>
            <a:br/>
            <a:r>
              <a:t>The models.</a:t>
            </a:r>
            <a:br/>
            <a:r>
              <a:t>The simulation.</a:t>
            </a:r>
          </a:p>
        </p:txBody>
      </p:sp>
      <p:sp>
        <p:nvSpPr>
          <p:cNvPr id="5" name="Oval 4"/>
          <p:cNvSpPr/>
          <p:nvPr/>
        </p:nvSpPr>
        <p:spPr>
          <a:xfrm>
            <a:off x="5486400" y="1097280"/>
            <a:ext cx="5029200" cy="5029200"/>
          </a:xfrm>
          <a:prstGeom prst="ellipse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5F5F0"/>
                </a:solidFill>
                <a:latin typeface="Segoe UI"/>
              </a:defRPr>
            </a:pPr>
            <a:r>
              <a:t>Agentic</a:t>
            </a:r>
            <a:br/>
            <a: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114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The reasoning.</a:t>
            </a:r>
            <a:br/>
            <a:r>
              <a:t>The planning.</a:t>
            </a:r>
            <a:br/>
            <a:r>
              <a:t>The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E8E4D9"/>
                </a:solidFill>
                <a:latin typeface="Segoe UI"/>
              </a:defRPr>
            </a:pPr>
            <a: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5F5F0"/>
                </a:solidFill>
                <a:latin typeface="Segoe UI"/>
              </a:defRPr>
            </a:pPr>
            <a:r>
              <a:t>The twin that thinks.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Agentic Control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Perceive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Reflect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114800"/>
            <a:ext cx="9144000" cy="1371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82605" y="3840480"/>
            <a:ext cx="13716" cy="28803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38605" y="3840480"/>
            <a:ext cx="13716" cy="28803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703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D4D0C8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280"/>
                </a:solidFill>
                <a:latin typeface="Segoe UI"/>
              </a:defRPr>
            </a:pPr>
            <a:r>
              <a:t>Continuous feedback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4D9"/>
                </a:solidFill>
                <a:latin typeface="Segoe UI"/>
              </a:defRPr>
            </a:pPr>
            <a:r>
              <a:t>Perceive the environment. Reason about causes. Plan a response.</a:t>
            </a:r>
            <a:br/>
            <a:r>
              <a:t>Act through connected systems. Reflect on outcomes.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926080" y="118872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8E4D9"/>
                </a:solidFill>
                <a:latin typeface="Segoe UI"/>
              </a:defRPr>
            </a:pPr>
            <a:r>
              <a:t>Cognitive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 i="0">
                <a:solidFill>
                  <a:srgbClr val="E8E4D9"/>
                </a:solidFill>
                <a:latin typeface="Segoe UI"/>
              </a:defRPr>
            </a:pPr>
            <a:r>
              <a:t>The Mind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74320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6B7280"/>
                </a:solidFill>
                <a:latin typeface="Segoe UI"/>
              </a:defRPr>
            </a:pPr>
            <a:r>
              <a:t>The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429768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Physical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6B7280"/>
                </a:solidFill>
                <a:latin typeface="Segoe UI"/>
              </a:defRPr>
            </a:pPr>
            <a:r>
              <a:t>The Real Thing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280160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IBM — AAAI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7373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First major academic paper on agentic digital twins.</a:t>
            </a:r>
            <a:br/>
            <a:r>
              <a:t>LLM agents for shipping fleet management —</a:t>
            </a:r>
            <a:br/>
            <a:r>
              <a:t>autonomously plan, execute, reflect.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XMPro MAGS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Production multi-agent system for manufacturing.</a:t>
            </a:r>
            <a:br/>
            <a:r>
              <a:t>30–40% reduction in unplanned downtime.</a:t>
            </a:r>
            <a:br/>
            <a:r>
              <a:t>Open source.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754879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7548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Nature Computational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212079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7280"/>
                </a:solidFill>
                <a:latin typeface="Segoe UI"/>
              </a:defRPr>
            </a:pPr>
            <a:r>
              <a:t>Published a formal evolutionary framework.</a:t>
            </a:r>
            <a:br/>
            <a:r>
              <a:t>This field has its own taxonomy now.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Multi-Agent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948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48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Detects anomalies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9887" y="256032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564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Analyst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564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Finds root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6047" y="256032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180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Planner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180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Schedules responses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4D9"/>
                </a:solidFill>
                <a:latin typeface="Segoe UI"/>
              </a:defRPr>
            </a:pPr>
            <a:r>
              <a:t>Specialized agents. Collaborate and check each other's work.</a:t>
            </a:r>
            <a:br/>
            <a:r>
              <a:t>The agent that proposes is never the one that approves.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One Pattern, Three Worlds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Edge AI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236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Model drift</a:t>
            </a:r>
            <a:br/>
            <a:r>
              <a:t>→ Diagnose</a:t>
            </a:r>
            <a:br/>
            <a:r>
              <a:t>→ Retrain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992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Robotic 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424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Bearing wear</a:t>
            </a:r>
            <a:br/>
            <a:r>
              <a:t>→ Predict</a:t>
            </a:r>
            <a:br/>
            <a:r>
              <a:t>→ Schedule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180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ADAS Sensor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612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Sensor fusion</a:t>
            </a:r>
            <a:br/>
            <a:r>
              <a:t>→ Safety</a:t>
            </a:r>
            <a:br/>
            <a:r>
              <a:t>→ Adapt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E4D9"/>
                </a:solidFill>
                <a:latin typeface="Segoe UI"/>
              </a:defRPr>
            </a:pPr>
            <a:r>
              <a:t>Same loop. Same architecture. Different worlds.</a:t>
            </a:r>
            <a:br/>
            <a:r>
              <a:t>The pattern is universal.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B5563"/>
                </a:solidFill>
                <a:latin typeface="Segoe UI"/>
              </a:defRPr>
            </a:pPr>
            <a:r>
              <a:t>Let's Be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2588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When the agent decides wrong, who owns 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51460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468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Explainability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Can you trace why it made that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70332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New attack surfaces we haven't fully mapped.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89204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846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257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B7280"/>
                </a:solidFill>
                <a:latin typeface="Segoe UI"/>
              </a:defRPr>
            </a:pPr>
            <a:r>
              <a:t>Our frameworks weren't built for autonomous agents.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5F5F0"/>
                </a:solidFill>
                <a:latin typeface="Segoe UI"/>
              </a:defRPr>
            </a:pPr>
            <a:r>
              <a:t>Talk to an agentic digital twin yourself.</a:t>
            </a:r>
          </a:p>
        </p:txBody>
      </p:sp>
      <p:pic>
        <p:nvPicPr>
          <p:cNvPr id="3" name="Picture 2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286000"/>
            <a:ext cx="3566160" cy="3200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28600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Edge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8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Robotic Arm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280"/>
                </a:solidFill>
                <a:latin typeface="Segoe UI"/>
              </a:defRPr>
            </a:pPr>
            <a:r>
              <a:t>tonypdemo.it.com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1">
                <a:solidFill>
                  <a:srgbClr val="E8E4D9"/>
                </a:solidFill>
                <a:latin typeface="Segoe UI"/>
              </a:defRPr>
            </a:pPr>
            <a:r>
              <a:t>Digital twins already have the data.</a:t>
            </a:r>
            <a:br/>
            <a:r>
              <a:t>Agentic AI gives them the ability to act on it.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200400"/>
            <a:ext cx="22860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5F5F0"/>
                </a:solidFill>
                <a:latin typeface="Segoe UI"/>
              </a:defRPr>
            </a:pPr>
            <a:r>
              <a:t>Anthony Poole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8E4D9"/>
                </a:solidFill>
                <a:latin typeface="Segoe UI"/>
              </a:defRPr>
            </a:pPr>
            <a:r>
              <a:t>AI Engineer,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7280"/>
                </a:solidFill>
                <a:latin typeface="Segoe UI"/>
              </a:defRPr>
            </a:pPr>
            <a:r>
              <a:t>anthony50102.github.io  ·  linkedin.com/in/anthony-poole-079548206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4D9"/>
                </a:solidFill>
                <a:latin typeface="Segoe UI"/>
              </a:defRPr>
            </a:pPr>
            <a:r>
              <a:t>Thank you.</a:t>
            </a:r>
          </a:p>
        </p:txBody>
      </p:sp>
      <p:pic>
        <p:nvPicPr>
          <p:cNvPr id="8" name="Picture 7" descr="qr-per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65760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0" y="5897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6B7280"/>
                </a:solidFill>
                <a:latin typeface="Segoe UI"/>
              </a:defRPr>
            </a:pPr>
            <a:r>
              <a:t>anthony50102.github.io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