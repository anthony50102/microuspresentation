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5F5F0"/>
                </a:solidFill>
                <a:latin typeface="Segoe UI"/>
              </a:defRPr>
            </a:pPr>
            <a:r>
              <a:t>The Next Layer</a:t>
            </a:r>
            <a:br/>
            <a:r>
              <a:t>for Digital Twins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E8E4D9"/>
                </a:solidFill>
                <a:latin typeface="Segoe UI"/>
              </a:defRPr>
            </a:pPr>
            <a:r>
              <a:t>From Simulation to Autonomous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937760"/>
            <a:ext cx="27432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5166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8B919C"/>
                </a:solidFill>
                <a:latin typeface="Segoe UI"/>
              </a:defRPr>
            </a:pPr>
            <a:r>
              <a:t>Anthony Poole  ·  Software Engineer,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6B7280"/>
                </a:solidFill>
                <a:latin typeface="Segoe UI"/>
              </a:defRPr>
            </a:pPr>
            <a:r>
              <a:t>Microelectronics US 2026  ·  Embedded Systems Stage  ·  April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Digital Twins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931920"/>
            <a:ext cx="27432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The Foundation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4389120" cy="36576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F5F0"/>
                </a:solidFill>
                <a:latin typeface="Segoe UI"/>
              </a:defRPr>
            </a:pPr>
            <a:r>
              <a:t>Physical</a:t>
            </a:r>
            <a:br/>
            <a:r>
              <a:t>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80" y="182880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E8E4D9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Sensors &amp;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3474720"/>
            <a:ext cx="1828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0" i="0">
                <a:solidFill>
                  <a:srgbClr val="E8E4D9"/>
                </a:solidFill>
                <a:latin typeface="Segoe UI"/>
              </a:defRPr>
            </a:pPr>
            <a:r>
              <a:t>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4297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Simulation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645920"/>
            <a:ext cx="4389120" cy="36576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200" b="1">
                <a:solidFill>
                  <a:srgbClr val="F5F5F0"/>
                </a:solidFill>
                <a:latin typeface="Segoe UI"/>
              </a:defRPr>
            </a:pPr>
            <a:r>
              <a:t>Digital</a:t>
            </a:r>
            <a:br/>
            <a:r>
              <a:t>Twin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669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A virtual model, continuously synced with a physical system.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 i="0">
                <a:solidFill>
                  <a:srgbClr val="F5F5F0"/>
                </a:solidFill>
                <a:latin typeface="Segoe UI"/>
              </a:defRPr>
            </a:pPr>
            <a:r>
              <a:t>$22K /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1280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8B919C"/>
                </a:solidFill>
                <a:latin typeface="Segoe UI"/>
              </a:defRPr>
            </a:pPr>
            <a:r>
              <a:t>Automotive downtime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468879"/>
            <a:ext cx="9418320" cy="182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65176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 i="0">
                <a:solidFill>
                  <a:srgbClr val="F5F5F0"/>
                </a:solidFill>
                <a:latin typeface="Segoe UI"/>
              </a:defRPr>
            </a:pPr>
            <a:r>
              <a:t>$5M / hour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8346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8B919C"/>
                </a:solidFill>
                <a:latin typeface="Segoe UI"/>
              </a:defRPr>
            </a:pPr>
            <a:r>
              <a:t>Semiconductor fab downtime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4023359"/>
            <a:ext cx="9418320" cy="18288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0" b="1" i="0">
                <a:solidFill>
                  <a:srgbClr val="F5F5F0"/>
                </a:solidFill>
                <a:latin typeface="Segoe UI"/>
              </a:defRPr>
            </a:pPr>
            <a:r>
              <a:t>$121B /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43891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8B919C"/>
                </a:solidFill>
                <a:latin typeface="Segoe UI"/>
              </a:defRPr>
            </a:pPr>
            <a:r>
              <a:t>U.S. grid outage costs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The Evolution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66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1: Static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66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"Here's what</a:t>
            </a:r>
            <a:br/>
            <a:r>
              <a:t>it looks like"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154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98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2: Reactive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98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"Something</a:t>
            </a:r>
            <a:br/>
            <a:r>
              <a:t>went wrong"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586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45920"/>
            <a:ext cx="246888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Gen 3: Predictive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007" y="301752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"Something</a:t>
            </a:r>
            <a:br/>
            <a:r>
              <a:t>will go wrong"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01887" y="1920240"/>
            <a:ext cx="274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76207" y="1645920"/>
            <a:ext cx="2468880" cy="1188720"/>
          </a:xfrm>
          <a:prstGeom prst="roundRect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E8E4D9"/>
                </a:solidFill>
                <a:latin typeface="Segoe UI"/>
              </a:defRPr>
            </a:pPr>
            <a:r>
              <a:t>Gen 4: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8E4D9"/>
                </a:solidFill>
                <a:latin typeface="Segoe UI"/>
              </a:defRPr>
            </a:pPr>
            <a:r>
              <a:t>Each generation gets smarter about what's happening.</a:t>
            </a:r>
            <a:br/>
            <a:r>
              <a:t>But the human is still the one who decides what to do about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 i="0">
                <a:solidFill>
                  <a:srgbClr val="E8E4D9"/>
                </a:solidFill>
                <a:latin typeface="Segoe UI"/>
              </a:defRPr>
            </a:pPr>
            <a:r>
              <a:t>Digital twins can see everything.</a:t>
            </a:r>
            <a:br/>
            <a:r>
              <a:t>They can't do anything</a:t>
            </a:r>
            <a:br/>
            <a:r>
              <a:t>about what they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2:14 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 i="0">
                <a:solidFill>
                  <a:srgbClr val="F5F5F0"/>
                </a:solidFill>
                <a:latin typeface="Segoe UI"/>
              </a:defRPr>
            </a:pPr>
            <a:r>
              <a:t>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931920"/>
            <a:ext cx="27432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What Makes an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466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Autonomy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37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Acts within defined</a:t>
            </a:r>
            <a:br/>
            <a:r>
              <a:t>boundaries without</a:t>
            </a:r>
            <a:br/>
            <a:r>
              <a:t>prompting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98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269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Breaks complex problems</a:t>
            </a:r>
            <a:br/>
            <a:r>
              <a:t>into multi-step</a:t>
            </a:r>
            <a:br/>
            <a:r>
              <a:t>workflows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Tool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Connects to real</a:t>
            </a:r>
            <a:br/>
            <a:r>
              <a:t>systems, APIs,</a:t>
            </a:r>
            <a:br/>
            <a:r>
              <a:t>and databases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1828800"/>
            <a:ext cx="246888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F5F0"/>
                </a:solidFill>
                <a:latin typeface="Segoe UI"/>
              </a:defRPr>
            </a:pPr>
            <a:r>
              <a:t>Reflection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3367" y="320040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0">
                <a:solidFill>
                  <a:srgbClr val="8B919C"/>
                </a:solidFill>
                <a:latin typeface="Segoe UI"/>
              </a:defRPr>
            </a:pPr>
            <a:r>
              <a:t>Evaluates its own</a:t>
            </a:r>
            <a:br/>
            <a:r>
              <a:t>actions and adjusts</a:t>
            </a:r>
            <a:br/>
            <a:r>
              <a:t>strategy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645920" y="1097280"/>
            <a:ext cx="5029200" cy="5029200"/>
          </a:xfrm>
          <a:prstGeom prst="ellipse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5F5F0"/>
                </a:solidFill>
                <a:latin typeface="Segoe UI"/>
              </a:defRPr>
            </a:pPr>
            <a:r>
              <a:t>Digital</a:t>
            </a:r>
            <a:br/>
            <a:r>
              <a:t>Twins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4114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The data</a:t>
            </a:r>
            <a:br/>
            <a:r>
              <a:t>The models</a:t>
            </a:r>
            <a:br/>
            <a:r>
              <a:t>The simulation</a:t>
            </a:r>
          </a:p>
        </p:txBody>
      </p:sp>
      <p:sp>
        <p:nvSpPr>
          <p:cNvPr id="5" name="Oval 4"/>
          <p:cNvSpPr/>
          <p:nvPr/>
        </p:nvSpPr>
        <p:spPr>
          <a:xfrm>
            <a:off x="5486400" y="1097280"/>
            <a:ext cx="5029200" cy="5029200"/>
          </a:xfrm>
          <a:prstGeom prst="ellipse">
            <a:avLst/>
          </a:prstGeom>
          <a:noFill/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 i="0">
                <a:solidFill>
                  <a:srgbClr val="F5F5F0"/>
                </a:solidFill>
                <a:latin typeface="Segoe UI"/>
              </a:defRPr>
            </a:pPr>
            <a:r>
              <a:t>Agentic</a:t>
            </a:r>
            <a:br/>
            <a: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411480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The reasoning</a:t>
            </a:r>
            <a:br/>
            <a:r>
              <a:t>The planning</a:t>
            </a:r>
            <a:br/>
            <a:r>
              <a:t>The 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2103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E8E4D9"/>
                </a:solidFill>
                <a:latin typeface="Segoe UI"/>
              </a:defRPr>
            </a:pPr>
            <a:r>
              <a:t>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5F5F0"/>
                </a:solidFill>
                <a:latin typeface="Segoe UI"/>
              </a:defRPr>
            </a:pPr>
            <a:r>
              <a:t>What if the twin could think?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The Agentic Control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Perceive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06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64040" y="3017520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0" y="2743200"/>
            <a:ext cx="1828800" cy="109728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5F5F0"/>
                </a:solidFill>
                <a:latin typeface="Segoe UI"/>
              </a:defRPr>
            </a:pPr>
            <a:r>
              <a:t>Reflect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4114800"/>
            <a:ext cx="9144000" cy="1371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82605" y="3840480"/>
            <a:ext cx="13716" cy="28803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38605" y="3840480"/>
            <a:ext cx="13716" cy="288036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37033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D4D0C8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4206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B919C"/>
                </a:solidFill>
                <a:latin typeface="Segoe UI"/>
              </a:defRPr>
            </a:pPr>
            <a:r>
              <a:t>Continuous feedback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4D9"/>
                </a:solidFill>
                <a:latin typeface="Segoe UI"/>
              </a:defRPr>
            </a:pPr>
            <a:r>
              <a:t>Perceive the environment. Reason about causes. Plan a response.</a:t>
            </a:r>
            <a:br/>
            <a:r>
              <a:t>Act through connected systems. Reflect on outcomes.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926080" y="118872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E8E4D9"/>
                </a:solidFill>
                <a:latin typeface="Segoe UI"/>
              </a:defRPr>
            </a:pPr>
            <a:r>
              <a:t>Cognitive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 i="0">
                <a:solidFill>
                  <a:srgbClr val="E8E4D9"/>
                </a:solidFill>
                <a:latin typeface="Segoe UI"/>
              </a:defRPr>
            </a:pPr>
            <a:r>
              <a:t>The Mind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74320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Digital 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8B919C"/>
                </a:solidFill>
                <a:latin typeface="Segoe UI"/>
              </a:defRPr>
            </a:pPr>
            <a:r>
              <a:t>The Mirror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4297680"/>
            <a:ext cx="777240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Physical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0" i="0">
                <a:solidFill>
                  <a:srgbClr val="8B919C"/>
                </a:solidFill>
                <a:latin typeface="Segoe UI"/>
              </a:defRPr>
            </a:pPr>
            <a:r>
              <a:t>The Real Thing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280160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IBM — AAAI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7373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First major academic paper on agentic digital twins.</a:t>
            </a:r>
            <a:br/>
            <a:r>
              <a:t>LLM agents for shipping fleet management —</a:t>
            </a:r>
            <a:br/>
            <a:r>
              <a:t>autonomously plan, execute, reflect.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017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XMPro MAGS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4747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Production multi-agent system for manufacturing.</a:t>
            </a:r>
            <a:br/>
            <a:r>
              <a:t>Potential 30–40% reduction in unplanned downtime.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754879"/>
            <a:ext cx="73152" cy="128016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75487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Nature Computational Science (2026)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212079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Mapped Digital Twin evolution from reactive to agentic,</a:t>
            </a:r>
            <a:br/>
            <a:r>
              <a:t>naming six capability levels: Standalone · Descriptive ·</a:t>
            </a:r>
            <a:br/>
            <a:r>
              <a:t>Diagnostic · Predictive · Prescriptive · Autonomous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Multi-Agent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2948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Monitor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948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Detects anomalies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9887" y="256032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564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Analyst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564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Finds root causes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6047" y="2560320"/>
            <a:ext cx="365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 i="0">
                <a:solidFill>
                  <a:srgbClr val="D4D0C8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1807" y="2011680"/>
            <a:ext cx="3200400" cy="182880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F5F5F0"/>
                </a:solidFill>
                <a:latin typeface="Segoe UI"/>
              </a:defRPr>
            </a:pPr>
            <a:r>
              <a:t>Planner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1807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Schedules responses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4D9"/>
                </a:solidFill>
                <a:latin typeface="Segoe UI"/>
              </a:defRPr>
            </a:pPr>
            <a:r>
              <a:t>Specialized agents. Collaborate and check each other's work.</a:t>
            </a:r>
            <a:br/>
            <a:r>
              <a:t>The agent that proposes is never the one that approves.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One Pattern, Every System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Edge AI Device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236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8B919C"/>
                </a:solidFill>
                <a:latin typeface="Segoe UI"/>
              </a:defRPr>
            </a:pPr>
            <a:r>
              <a:t>Model drift</a:t>
            </a:r>
            <a:br/>
            <a:r>
              <a:t>→ Diagnose</a:t>
            </a:r>
            <a:br/>
            <a:r>
              <a:t>→ Retrain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4992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Robotic 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424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8B919C"/>
                </a:solidFill>
                <a:latin typeface="Segoe UI"/>
              </a:defRPr>
            </a:pPr>
            <a:r>
              <a:t>Bearing wear</a:t>
            </a:r>
            <a:br/>
            <a:r>
              <a:t>→ Predict</a:t>
            </a:r>
            <a:br/>
            <a:r>
              <a:t>→ Schedule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1807" y="1645920"/>
            <a:ext cx="3291840" cy="118872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D4D0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5F5F0"/>
                </a:solidFill>
                <a:latin typeface="Segoe UI"/>
              </a:defRPr>
            </a:pPr>
            <a:r>
              <a:t>ADAS Sensor Suite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6127" y="310896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8B919C"/>
                </a:solidFill>
                <a:latin typeface="Segoe UI"/>
              </a:defRPr>
            </a:pPr>
            <a:r>
              <a:t>Sensor fusion</a:t>
            </a:r>
            <a:br/>
            <a:r>
              <a:t>→ Safety</a:t>
            </a:r>
            <a:br/>
            <a:r>
              <a:t>→ Adapt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8E4D9"/>
                </a:solidFill>
                <a:latin typeface="Segoe UI"/>
              </a:defRPr>
            </a:pPr>
            <a:r>
              <a:t>Same loop. Same architecture. Different worlds.</a:t>
            </a:r>
            <a:br/>
            <a:r>
              <a:t>The pattern is universal.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Let's Be Honest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2588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When the agent decides wrong, who owns it?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51460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4688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Explainability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Can you trace why it made that call?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70332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New attack surfaces we haven't fully mapped.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892040"/>
            <a:ext cx="73152" cy="731520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4846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F5F0"/>
                </a:solidFill>
                <a:latin typeface="Segoe UI"/>
              </a:defRPr>
            </a:pPr>
            <a:r>
              <a:t>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257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 i="0">
                <a:solidFill>
                  <a:srgbClr val="8B919C"/>
                </a:solidFill>
                <a:latin typeface="Segoe UI"/>
              </a:defRPr>
            </a:pPr>
            <a:r>
              <a:t>Our frameworks weren't built for autonomous agents.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5F5F0"/>
                </a:solidFill>
                <a:latin typeface="Segoe UI"/>
              </a:defRPr>
            </a:pPr>
            <a:r>
              <a:t>Talk to an agentic digital twin yourself.</a:t>
            </a:r>
          </a:p>
        </p:txBody>
      </p:sp>
      <p:pic>
        <p:nvPicPr>
          <p:cNvPr id="3" name="Picture 2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2286000"/>
            <a:ext cx="3566160" cy="3200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28600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Edge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1208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Robotic Arm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5760720"/>
            <a:ext cx="2286000" cy="548640"/>
          </a:xfrm>
          <a:prstGeom prst="roundRect">
            <a:avLst/>
          </a:prstGeom>
          <a:solidFill>
            <a:srgbClr val="151D30"/>
          </a:solidFill>
          <a:ln w="1905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0">
                <a:solidFill>
                  <a:srgbClr val="E8E4D9"/>
                </a:solidFill>
                <a:latin typeface="Segoe UI"/>
              </a:defRPr>
            </a:pPr>
            <a:r>
              <a:t>ADAS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3550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8B919C"/>
                </a:solidFill>
                <a:latin typeface="Segoe UI"/>
              </a:defRPr>
            </a:pPr>
            <a:r>
              <a:t>tonypdemo.it.com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09728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5F5F0"/>
                </a:solidFill>
                <a:latin typeface="Segoe UI"/>
              </a:defRPr>
            </a:pPr>
            <a:r>
              <a:t>Questions?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2560320"/>
            <a:ext cx="22860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5F5F0"/>
                </a:solidFill>
                <a:latin typeface="Segoe UI"/>
              </a:defRPr>
            </a:pPr>
            <a:r>
              <a:t>Anthony Poole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49039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8E4D9"/>
                </a:solidFill>
                <a:latin typeface="Segoe UI"/>
              </a:defRPr>
            </a:pPr>
            <a:r>
              <a:t>Software Engineer,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anthony50102.github.io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846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8B919C"/>
                </a:solidFill>
                <a:latin typeface="Segoe UI"/>
              </a:defRPr>
            </a:pPr>
            <a:r>
              <a:t>linkedin.com/in/anthony-poole-079548206</a:t>
            </a:r>
          </a:p>
        </p:txBody>
      </p:sp>
      <p:pic>
        <p:nvPicPr>
          <p:cNvPr id="8" name="Picture 7" descr="qr-pers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560320"/>
            <a:ext cx="2926080" cy="2926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5532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B919C"/>
                </a:solidFill>
                <a:latin typeface="Segoe UI"/>
              </a:defRPr>
            </a:pPr>
            <a:r>
              <a:t>anthony50102.github.io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1E2E"/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 i="1">
                <a:solidFill>
                  <a:srgbClr val="E8E4D9"/>
                </a:solidFill>
                <a:latin typeface="Segoe UI"/>
              </a:defRPr>
            </a:pPr>
            <a:r>
              <a:t>Digital twins give us the body.</a:t>
            </a:r>
            <a:br/>
            <a:r>
              <a:t>It's time to consider the mind.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4846320"/>
            <a:ext cx="2286000" cy="10972"/>
          </a:xfrm>
          <a:prstGeom prst="rect">
            <a:avLst/>
          </a:prstGeom>
          <a:solidFill>
            <a:srgbClr val="D4D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5120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E8E4D9"/>
                </a:solidFill>
                <a:latin typeface="Segoe UI"/>
              </a:defRPr>
            </a:pPr>
            <a: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