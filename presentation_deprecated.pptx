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1371600"/>
            <a:ext cx="3200400" cy="3200400"/>
          </a:xfrm>
          <a:prstGeom prst="rect">
            <a:avLst/>
          </a:prstGeom>
          <a:solidFill>
            <a:srgbClr val="13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DIGITAL TWIN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D4FF"/>
                </a:solidFill>
                <a:latin typeface="Calibri"/>
              </a:defRPr>
            </a:pPr>
            <a:r>
              <a:t>for Virtual Prototyping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A0AEC0"/>
                </a:solidFill>
                <a:latin typeface="Calibri"/>
              </a:defRPr>
            </a:pPr>
            <a:r>
              <a:t>Microelectronics US 2026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April 22–23  •  Austin, TX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Anthony Poole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D4FF"/>
                </a:solidFill>
                <a:latin typeface="Calibri"/>
              </a:defRPr>
            </a:pPr>
            <a:r>
              <a:t>linkedin.com/in/anthony-poole-079548206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What Is a Digital Twin?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Definition, history, and the technology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103120"/>
            <a:ext cx="9144000" cy="1270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The semiconductor complexity crisis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697480"/>
            <a:ext cx="9144000" cy="1270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Digital Twin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Device → Process → Facility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291840"/>
            <a:ext cx="9144000" cy="1270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Industry in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Samsung, TSMC, Intel case studies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886200"/>
            <a:ext cx="9144000" cy="1270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× Digital Twins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The 2026 inflection 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480560"/>
            <a:ext cx="9144000" cy="1270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Policy &amp; Investment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CHIPS Act and the road ahead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074920"/>
            <a:ext cx="9144000" cy="1270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A semiconductor process digital twin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5669280"/>
            <a:ext cx="9144000" cy="1270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806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Chiplets, advanced packaging, and the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 DIGITAL TWIN?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800" cy="10972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A0AEC0"/>
                </a:solidFill>
                <a:latin typeface="Calibri"/>
              </a:defRPr>
            </a:pPr>
            <a:r>
              <a:t>"A virtual model of a physical system — continuously updated with real data — that uses simulation to predict and optimize outcomes."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2468880" cy="1645920"/>
          </a:xfrm>
          <a:prstGeom prst="rect">
            <a:avLst/>
          </a:prstGeom>
          <a:solidFill>
            <a:srgbClr val="152038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246888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t>Virtual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A representation of</a:t>
            </a:r>
            <a:br/>
            <a:r>
              <a:t>the physical thing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200400"/>
            <a:ext cx="2468880" cy="1645920"/>
          </a:xfrm>
          <a:prstGeom prst="rect">
            <a:avLst/>
          </a:prstGeom>
          <a:solidFill>
            <a:srgbClr val="152038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3200400"/>
            <a:ext cx="24688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3AED"/>
                </a:solidFill>
                <a:latin typeface="Calibri"/>
              </a:defRPr>
            </a:pPr>
            <a:r>
              <a:t>Physics-Based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Encodes how the</a:t>
            </a:r>
            <a:br/>
            <a:r>
              <a:t>system actually behaves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00400"/>
            <a:ext cx="2468880" cy="1645920"/>
          </a:xfrm>
          <a:prstGeom prst="rect">
            <a:avLst/>
          </a:prstGeom>
          <a:solidFill>
            <a:srgbClr val="152038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246888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Bidirectional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Real data calibrates</a:t>
            </a:r>
            <a:br/>
            <a:r>
              <a:t>the model continuously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3200400"/>
            <a:ext cx="2468880" cy="1645920"/>
          </a:xfrm>
          <a:prstGeom prst="rect">
            <a:avLst/>
          </a:prstGeom>
          <a:solidFill>
            <a:srgbClr val="152038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3200400"/>
            <a:ext cx="24688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Predictive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0AEC0"/>
                </a:solidFill>
                <a:latin typeface="Calibri"/>
              </a:defRPr>
            </a:pPr>
            <a:r>
              <a:t>Run forward to explore</a:t>
            </a:r>
            <a:br/>
            <a:r>
              <a:t>"what if" scenarios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1970s NASA  →  2002 Grieves coins the term  →  2010s Industrialized  →  2020s Semiconductor adoption  →  2026 AI-powered twins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NOW? THE SEMICONDUCTOR COMPLEXITY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D4FF"/>
                </a:solidFill>
                <a:latin typeface="Calibri"/>
              </a:defRPr>
            </a:pPr>
            <a:r>
              <a:t>$300M+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Cost of a single</a:t>
            </a:r>
            <a:br/>
            <a:r>
              <a:t>advanced tape-out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246888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7C3AED"/>
                </a:solidFill>
                <a:latin typeface="Calibri"/>
              </a:defRPr>
            </a:pPr>
            <a:r>
              <a:t>300–800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Process steps</a:t>
            </a:r>
            <a:br/>
            <a:r>
              <a:t>per wafer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46888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Calibri"/>
              </a:defRPr>
            </a:pPr>
            <a:r>
              <a:t>$15K+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Cost per wafer at</a:t>
            </a:r>
            <a:br/>
            <a:r>
              <a:t>leading 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645920"/>
            <a:ext cx="246888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9E0B"/>
                </a:solidFill>
                <a:latin typeface="Calibri"/>
              </a:defRPr>
            </a:pPr>
            <a:r>
              <a:t>67,000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Worker shortage</a:t>
            </a:r>
            <a:br/>
            <a:r>
              <a:t>by 2030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Old Way vs. The New 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502920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F4444"/>
                </a:solidFill>
                <a:latin typeface="Calibri"/>
              </a:defRPr>
            </a:pPr>
            <a:r>
              <a:t>❌  Build → Test → Fix → 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EF4444"/>
                </a:solidFill>
                <a:latin typeface="Calibri"/>
              </a:rPr>
              <a:t>▸ </a:t>
            </a:r>
            <a:r>
              <a:rPr sz="1400">
                <a:solidFill>
                  <a:srgbClr val="A0AEC0"/>
                </a:solidFill>
                <a:latin typeface="Calibri"/>
              </a:rPr>
              <a:t>Months-long iteration cycles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F4444"/>
                </a:solidFill>
                <a:latin typeface="Calibri"/>
              </a:rPr>
              <a:t>▸ </a:t>
            </a:r>
            <a:r>
              <a:rPr sz="1400">
                <a:solidFill>
                  <a:srgbClr val="A0AEC0"/>
                </a:solidFill>
                <a:latin typeface="Calibri"/>
              </a:rPr>
              <a:t>Physical prototypes at $300M each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F4444"/>
                </a:solidFill>
                <a:latin typeface="Calibri"/>
              </a:rPr>
              <a:t>▸ </a:t>
            </a:r>
            <a:r>
              <a:rPr sz="1400">
                <a:solidFill>
                  <a:srgbClr val="A0AEC0"/>
                </a:solidFill>
                <a:latin typeface="Calibri"/>
              </a:rPr>
              <a:t>Problems found late = exponential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114800"/>
            <a:ext cx="5029200" cy="21031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 Simulate → Optimize → Validate →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63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</a:t>
            </a:r>
            <a:r>
              <a:rPr sz="1400">
                <a:solidFill>
                  <a:srgbClr val="A0AEC0"/>
                </a:solidFill>
                <a:latin typeface="Calibri"/>
              </a:rPr>
              <a:t>Days-to-weeks iteration in simulation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</a:t>
            </a:r>
            <a:r>
              <a:rPr sz="1400">
                <a:solidFill>
                  <a:srgbClr val="A0AEC0"/>
                </a:solidFill>
                <a:latin typeface="Calibri"/>
              </a:rPr>
              <a:t>Virtual prototypes at marginal cost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</a:t>
            </a:r>
            <a:r>
              <a:rPr sz="1400">
                <a:solidFill>
                  <a:srgbClr val="A0AEC0"/>
                </a:solidFill>
                <a:latin typeface="Calibri"/>
              </a:rPr>
              <a:t>Problems caught in design = 10× cheaper to fix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DIGITAL TWIN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Digital twins operate at every level of the semiconductor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383280" cy="4114800"/>
          </a:xfrm>
          <a:prstGeom prst="rect">
            <a:avLst/>
          </a:prstGeom>
          <a:solidFill>
            <a:srgbClr val="152038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3383280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t>🔬  DEVICE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Virtual prototype of the chip itself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Transistor-level simulation (TCAD)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Circuit behavior prediction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Design rule verification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Tools: Synopsys, Cadence, Siemens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103120"/>
            <a:ext cx="3383280" cy="4114800"/>
          </a:xfrm>
          <a:prstGeom prst="rect">
            <a:avLst/>
          </a:prstGeom>
          <a:solidFill>
            <a:srgbClr val="152038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103120"/>
            <a:ext cx="3383280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331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3AED"/>
                </a:solidFill>
                <a:latin typeface="Calibri"/>
              </a:defRPr>
            </a:pPr>
            <a:r>
              <a:t>⚙️  PROCESS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Virtual model of the manufacturing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29184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Etch, deposition, litho simulation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Yield prediction &amp; optimization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Recipe tuning &amp; what-if analysis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Tools: Lam SEMulator3D, ViennaPS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3383280" cy="4114800"/>
          </a:xfrm>
          <a:prstGeom prst="rect">
            <a:avLst/>
          </a:prstGeom>
          <a:solidFill>
            <a:srgbClr val="152038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331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🏭  FACILITY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Virtual model of the fab itself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9184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Equipment layout &amp; logistics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Throughput &amp; bottleneck analysis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Predictive maintenance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A0AEC0"/>
                </a:solidFill>
                <a:latin typeface="Calibri"/>
              </a:rPr>
              <a:t>Tools: NVIDIA Omniverse, Siemens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INDUSTRY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3500" cy="1463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D4FF"/>
                </a:solidFill>
                <a:latin typeface="Calibri"/>
              </a:defRPr>
            </a:pPr>
            <a:r>
              <a:t>Samsung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NVIDIA Omniverse Fab 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373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Built a complete digital twin of their semiconductor fab using NVIDIA Omniverse. Real-time simulation of equipment, processes, and logistics. Reduced planning time and improved yield.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46120"/>
            <a:ext cx="10515600" cy="146304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63500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C3AED"/>
                </a:solidFill>
                <a:latin typeface="Calibri"/>
              </a:defRPr>
            </a:pPr>
            <a:r>
              <a:t>TSMC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AI-Powered Yield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29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Deployed ML-driven digital twins across manufacturing. Predicts yield outcomes before wafers are processed. Reduced defect rates and accelerated ramp to volume production.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10515600" cy="146304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63500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0B981"/>
                </a:solidFill>
                <a:latin typeface="Calibri"/>
              </a:defRPr>
            </a:pPr>
            <a:r>
              <a:t>Intel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Factory of the 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1206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Integrated digital twins across design, manufacturing, and supply chain. Predictive maintenance reduced unplanned downtime. Virtual commissioning of new fab tools saves weeks.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× DIGITAL TWINS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From passive models to autonomous decision-makers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383280" cy="2926080"/>
          </a:xfrm>
          <a:prstGeom prst="rect">
            <a:avLst/>
          </a:prstGeom>
          <a:solidFill>
            <a:srgbClr val="152038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338328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Calibri"/>
              </a:defRPr>
            </a:pPr>
            <a:r>
              <a:t>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YESTERDAY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Physics-Based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Manual parameter tuning</a:t>
            </a:r>
            <a:br/>
            <a:r>
              <a:t>Expert-dependent</a:t>
            </a:r>
            <a:br/>
            <a:r>
              <a:t>Single-scenario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103120"/>
            <a:ext cx="3383280" cy="2926080"/>
          </a:xfrm>
          <a:prstGeom prst="rect">
            <a:avLst/>
          </a:prstGeom>
          <a:solidFill>
            <a:srgbClr val="152038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2103120"/>
            <a:ext cx="338328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2331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v2.0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39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D4FF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AI-Augmented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29184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ML-accelerated simulation</a:t>
            </a:r>
            <a:br/>
            <a:r>
              <a:t>Automated calibration</a:t>
            </a:r>
            <a:br/>
            <a:r>
              <a:t>Real-time anomaly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03120"/>
            <a:ext cx="3383280" cy="2926080"/>
          </a:xfrm>
          <a:prstGeom prst="rect">
            <a:avLst/>
          </a:prstGeom>
          <a:solidFill>
            <a:srgbClr val="152038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103120"/>
            <a:ext cx="338328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331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C3AED"/>
                </a:solidFill>
                <a:latin typeface="Calibri"/>
              </a:defRPr>
            </a:pPr>
            <a:r>
              <a:t>v3.0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C3AED"/>
                </a:solidFill>
                <a:latin typeface="Calibri"/>
              </a:defRPr>
            </a:pPr>
            <a:r>
              <a:t>TOMORROW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9184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Autonomous self-optimization</a:t>
            </a:r>
            <a:br/>
            <a:r>
              <a:t>Multi-step reasoning</a:t>
            </a:r>
            <a:br/>
            <a:r>
              <a:t>Continuous learning from fab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By 2027, Gartner predicts 50% of enterprises will use AI-augmented digital twins.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POLICY &amp; INVESTMENT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74320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D4FF"/>
                </a:solidFill>
                <a:latin typeface="Calibri"/>
              </a:defRPr>
            </a:pPr>
            <a:r>
              <a:t>$52.7B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CHIPS &amp; Science Act</a:t>
            </a:r>
            <a:br/>
            <a:r>
              <a:t>Total Investment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645920"/>
            <a:ext cx="274320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19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7C3AED"/>
                </a:solidFill>
                <a:latin typeface="Calibri"/>
              </a:defRPr>
            </a:pPr>
            <a:r>
              <a:t>$285M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19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SMART USA Institute</a:t>
            </a:r>
            <a:br/>
            <a:r>
              <a:t>(Digital Twin Focus)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645920"/>
            <a:ext cx="274320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F4444"/>
                </a:solidFill>
                <a:latin typeface="Calibri"/>
              </a:defRPr>
            </a:pPr>
            <a:r>
              <a:t>Dec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Institute Funding</a:t>
            </a:r>
            <a:br/>
            <a:r>
              <a:t>Terminated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SMART USA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Promise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Launched with $285M to advance semiconductor digital twin technology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096512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297680"/>
            <a:ext cx="25400" cy="41148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617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Early results in virtual prototyping and workforce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690872"/>
            <a:ext cx="137160" cy="1371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892040"/>
            <a:ext cx="25400" cy="41148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Setback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Funding terminated December 2025 — priorities shifted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5285232"/>
            <a:ext cx="137160" cy="1371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486400"/>
            <a:ext cx="25400" cy="41148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C3AED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06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Industry doubles down — Samsung, Intel, TSMC investing independently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879592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D4FF"/>
                </a:solidFill>
                <a:latin typeface="Calibri"/>
              </a:defRPr>
            </a:pPr>
            <a:r>
              <a:t>$2.18B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Semiconductor DT</a:t>
            </a:r>
            <a:br/>
            <a:r>
              <a:t>Market (2026)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246888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7C3AED"/>
                </a:solidFill>
                <a:latin typeface="Calibri"/>
              </a:defRPr>
            </a:pPr>
            <a:r>
              <a:t>$24B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Projected Market</a:t>
            </a:r>
            <a:br/>
            <a:r>
              <a:t>(2034)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46888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Calibri"/>
              </a:defRPr>
            </a:pPr>
            <a:r>
              <a:t>35–48%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Annual Growth</a:t>
            </a:r>
            <a:br/>
            <a:r>
              <a:t>Rate (CAGR)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645920"/>
            <a:ext cx="2468880" cy="1371600"/>
          </a:xfrm>
          <a:prstGeom prst="rect">
            <a:avLst/>
          </a:prstGeom>
          <a:solidFill>
            <a:srgbClr val="152038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9E0B"/>
                </a:solidFill>
                <a:latin typeface="Calibri"/>
              </a:defRPr>
            </a:pPr>
            <a:r>
              <a:t>$150B+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Total DT Market</a:t>
            </a:r>
            <a:br/>
            <a:r>
              <a:t>by 2030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Business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00D4FF"/>
                </a:solidFill>
                <a:latin typeface="Calibri"/>
              </a:rPr>
              <a:t>▸ </a:t>
            </a:r>
            <a:r>
              <a:rPr sz="1700">
                <a:solidFill>
                  <a:srgbClr val="A0AEC0"/>
                </a:solidFill>
                <a:latin typeface="Calibri"/>
              </a:rPr>
              <a:t>1% yield improvement = $10–20M savings per year per fab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0D4FF"/>
                </a:solidFill>
                <a:latin typeface="Calibri"/>
              </a:rPr>
              <a:t>▸ </a:t>
            </a:r>
            <a:r>
              <a:rPr sz="1700">
                <a:solidFill>
                  <a:srgbClr val="A0AEC0"/>
                </a:solidFill>
                <a:latin typeface="Calibri"/>
              </a:rPr>
              <a:t>Virtual prototyping reduces time-to-tape-out by 30–50%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0D4FF"/>
                </a:solidFill>
                <a:latin typeface="Calibri"/>
              </a:rPr>
              <a:t>▸ </a:t>
            </a:r>
            <a:r>
              <a:rPr sz="1700">
                <a:solidFill>
                  <a:srgbClr val="A0AEC0"/>
                </a:solidFill>
                <a:latin typeface="Calibri"/>
              </a:rPr>
              <a:t>Predictive maintenance cuts unplanned downtime by up to 40%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0D4FF"/>
                </a:solidFill>
                <a:latin typeface="Calibri"/>
              </a:rPr>
              <a:t>▸ </a:t>
            </a:r>
            <a:r>
              <a:rPr sz="1700">
                <a:solidFill>
                  <a:srgbClr val="A0AEC0"/>
                </a:solidFill>
                <a:latin typeface="Calibri"/>
              </a:rPr>
              <a:t>Advanced packaging complexity makes DT essential — not optional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0D4FF"/>
                </a:solidFill>
                <a:latin typeface="Calibri"/>
              </a:rPr>
              <a:t>▸ </a:t>
            </a:r>
            <a:r>
              <a:rPr sz="1700">
                <a:solidFill>
                  <a:srgbClr val="A0AEC0"/>
                </a:solidFill>
                <a:latin typeface="Calibri"/>
              </a:rPr>
              <a:t>Every major foundry is investing NOW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00D4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A Semiconductor Process Digital Twin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What you'll see: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Calibri"/>
              </a:defRPr>
            </a:pPr>
            <a:r>
              <a:t>🔬  Device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3D FinFET fabrication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C3AED"/>
                </a:solidFill>
                <a:latin typeface="Calibri"/>
              </a:defRPr>
            </a:pPr>
            <a:r>
              <a:t>⚙️  Process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Interactive process flow with what-if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📊  Yield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Real-time yield prediction from parameter changes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solidFill>
            <a:srgbClr val="152038"/>
          </a:solidFill>
          <a:ln w="25400">
            <a:solidFill>
              <a:srgbClr val="00D4F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64748B"/>
                </a:solidFill>
                <a:latin typeface="Calibri"/>
              </a:defRPr>
            </a:pPr>
            <a:r>
              <a:t>[ Demo Application Screenshot / Live Demo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Streamlit Process Twin Dashboard  •  SimPy Simulation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NEXT FRONTIER: CHIPLETS &amp; ADVANCED PACKAGING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Calibri"/>
              </a:defRPr>
            </a:pPr>
            <a:r>
              <a:t>Where digital twins shift from "nice-to-have" to "must-have"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F4444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F4444"/>
                </a:solidFill>
                <a:latin typeface="Calibri"/>
              </a:rPr>
              <a:t>▸ </a:t>
            </a:r>
            <a:r>
              <a:rPr sz="1600">
                <a:solidFill>
                  <a:srgbClr val="A0AEC0"/>
                </a:solidFill>
                <a:latin typeface="Calibri"/>
              </a:rPr>
              <a:t>Mixing different process nodes in one package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F4444"/>
                </a:solidFill>
                <a:latin typeface="Calibri"/>
              </a:rPr>
              <a:t>▸ </a:t>
            </a:r>
            <a:r>
              <a:rPr sz="1600">
                <a:solidFill>
                  <a:srgbClr val="A0AEC0"/>
                </a:solidFill>
                <a:latin typeface="Calibri"/>
              </a:rPr>
              <a:t>3D stacking: thermal + mechanical + electrical co-sim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F4444"/>
                </a:solidFill>
                <a:latin typeface="Calibri"/>
              </a:rPr>
              <a:t>▸ </a:t>
            </a:r>
            <a:r>
              <a:rPr sz="1600">
                <a:solidFill>
                  <a:srgbClr val="A0AEC0"/>
                </a:solidFill>
                <a:latin typeface="Calibri"/>
              </a:rPr>
              <a:t>Standards still emerging (UCIe, 3Dblox)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The Digital Twin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▸ </a:t>
            </a:r>
            <a:r>
              <a:rPr sz="1600">
                <a:solidFill>
                  <a:srgbClr val="A0AEC0"/>
                </a:solidFill>
                <a:latin typeface="Calibri"/>
              </a:rPr>
              <a:t>Virtual assembly before physical bonding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▸ </a:t>
            </a:r>
            <a:r>
              <a:rPr sz="1600">
                <a:solidFill>
                  <a:srgbClr val="A0AEC0"/>
                </a:solidFill>
                <a:latin typeface="Calibri"/>
              </a:rPr>
              <a:t>Thermal twins predict hotspots pre-silicon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▸ </a:t>
            </a:r>
            <a:r>
              <a:rPr sz="1600">
                <a:solidFill>
                  <a:srgbClr val="A0AEC0"/>
                </a:solidFill>
                <a:latin typeface="Calibri"/>
              </a:rPr>
              <a:t>Design space exploration across billions of configs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286000"/>
            <a:ext cx="12700" cy="2286000"/>
          </a:xfrm>
          <a:prstGeom prst="rect">
            <a:avLst/>
          </a:prstGeom>
          <a:solidFill>
            <a:srgbClr val="2D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Chiplet integration complexity makes physical prototyping prohibitively expensive.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D4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Digital twins are deployed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Samsung, TSMC, and Intel are running production digital twins today — this isn't theoretical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7C3AE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ROI is clear and measurable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71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1% yield improvement = $10–20M/year. Virtual prototyping cuts tape-out cycles by 30–50%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0B98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66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is the force multiplier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ML-augmented twins today, autonomous agentic AI twins tomorrow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9E0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Chiplets make it 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83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Advanced packaging complexity makes digital twins a requirement, not an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C489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tools are accessible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989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0AEC0"/>
                </a:solidFill>
                <a:latin typeface="Calibri"/>
              </a:defRPr>
            </a:pPr>
            <a:r>
              <a:t>Open-source frameworks, cloud compute, and standardized interfaces lower the barrier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00D4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Anthony Poole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00D4FF"/>
                </a:solidFill>
                <a:latin typeface="Calibri"/>
              </a:defRPr>
            </a:pPr>
            <a:r>
              <a:t>linkedin.com/in/anthony-poole-079548206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Microelectronics US 2026  •  Austin, TX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