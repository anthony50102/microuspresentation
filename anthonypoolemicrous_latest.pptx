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8374" autoAdjust="0"/>
  </p:normalViewPr>
  <p:slideViewPr>
    <p:cSldViewPr snapToGrid="0" snapToObjects="1">
      <p:cViewPr varScale="1">
        <p:scale>
          <a:sx n="110" d="100"/>
          <a:sy n="110" d="100"/>
        </p:scale>
        <p:origin x="2204"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78967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Hey everyone. I'm Anthony Poole, software engineer at Microsoft — I build AI systems. But I actually started a bit closer to y'all's world than you'd think — I interned at AMD, did research in photonics, wrote my thesis on digital twins, and I worked on embedded systems for autonomous vehicles. But then I crossed over to the big tech AI side. And over the last year I've watched something reshape how my team thinks about every system we touch. Now when I look back at what's happening with digital twins, I realize the same shift is heading this way.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divider — click through quickly. This is a signpost, not a beat.]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let's make sure we're starting from the same place. A digital twin — at its core — is a virtual model that stays continuously synced with a physical system. Data flows in from sensors. Simulations flow back. "Most of you know this better than I do. I'm not here to explain digital twins to you. I'm here to talk about what comes next."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In automotive manufacturing, unplanned downtime costs $22,000 a minute. In semiconductor fabs it can hit $5 million an hour. And at the electric grid level, U.S. power outages cost $121 billion last year alone. Here's the real problem: these systems are generating more data every minute than teams can act on in a week.</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[BUILD ANIMATION — click through generations one at a time.]</a:t>
            </a:r>
          </a:p>
          <a:p>
            <a:endParaRPr/>
          </a:p>
          <a:p>
            <a:r>
              <a:t>Digital twins have been evolving. Gen 1 was static — a 3D model, a schematic. Gen 2 was reactive — something went wrong, here's an alert. Gen 3 — where a lot of you are or are heading — is predictive.</a:t>
            </a:r>
          </a:p>
          <a:p>
            <a:endParaRPr/>
          </a:p>
          <a:p>
            <a:r>
              <a:t>But notice — every generation gets smarter about what's happening. None of them do anything about it.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the text land for a beat.]</a:t>
            </a:r>
          </a:p>
          <a:p>
            <a:endParaRPr/>
          </a:p>
          <a:p>
            <a:r>
              <a:t>Digital twins can see everything. They can't do anything about what they see. That's not a failure — that's a ceiling. And I think we're about to break through it.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[Slow. Conversational. Like you're telling a friend.]</a:t>
            </a:r>
          </a:p>
          <a:p>
            <a:endParaRPr dirty="0"/>
          </a:p>
          <a:p>
            <a:r>
              <a:rPr dirty="0"/>
              <a:t>You're a process engineer at a fab. It's 2:14 AM. Something shifts — temperature drift, vibration spike. Your monitoring system catches it instantly. You? You're asleep. By the time you wake up, understand what happened, track down the part — five, six hours have passed.</a:t>
            </a:r>
          </a:p>
          <a:p>
            <a:endParaRPr dirty="0"/>
          </a:p>
          <a:p>
            <a:r>
              <a:rPr dirty="0"/>
              <a:t>The system detected it in seconds. It took the better part of a shift. Detection and action are two completely different problems.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That was digital twins. Now let's talk about agents.</a:t>
            </a:r>
          </a:p>
          <a:p>
            <a:endParaRPr/>
          </a:p>
          <a:p>
            <a:r>
              <a:t>I know — you've heard the word. It's been on keynote slides and LinkedIn posts for a year. But I've spent the last year building these systems, and they work. They've changed how my team solves problems and makes decisions.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[BUILD ANIMATION — click through capabilities one at a time.]</a:t>
            </a:r>
          </a:p>
          <a:p>
            <a:endParaRPr/>
          </a:p>
          <a:p>
            <a:r>
              <a:t>Autonomy — it operates within boundaries you define, without waiting. Planning — it breaks complex problems into multi-step workflows. Tool use — it connects to real systems, APIs, databases. Reflection — it evaluates what it did and adjusts its approach.</a:t>
            </a:r>
          </a:p>
          <a:p>
            <a:endParaRPr/>
          </a:p>
          <a:p>
            <a:r>
              <a:t>That last one is the one people underestimate.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one side, digital twins — the data, the models, the simulation. On the other, agentic AI — the reasoning, the planning, the action. If you're looking at this thinking 'why aren't these connected yet?' — that's exactly the right question.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the slide breathe. A beat of silence before you speak.]</a:t>
            </a:r>
          </a:p>
          <a:p>
            <a:endParaRPr/>
          </a:p>
          <a:p>
            <a:r>
              <a:t>What if the twin could think? A digital twin that doesn't just mirror a system — it reasons about it. It plans. It acts. Not replacing the engineer. Giving the engineer a partner that never sleeps and never loses context.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It's a control loop — something every engineer in this room already thinks in. Perceive — ingest data. Reason — identify what's happening and why. Plan — build a response. Act — execute through connected systems. Reflect — evaluate the outcome.</a:t>
            </a:r>
          </a:p>
          <a:p>
            <a:endParaRPr/>
          </a:p>
          <a:p>
            <a:r>
              <a:t>Remember that engineer at 2 AM? An agentic twin wouldn't have just detected the drift. It would have pulled historical patterns, identified the failing element, and scheduled the repair. Minutes, not hours.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Architecturally, it's simpler than you'd think. Physical system at the bottom. Digital twin in the middle. And on top, a new cognitive layer — the reasoning and decision-making.</a:t>
            </a:r>
          </a:p>
          <a:p>
            <a:endParaRPr/>
          </a:p>
          <a:p>
            <a:r>
              <a:t>Two of those three layers? You already have them. The whole idea is one new layer on top of what you've already invested in.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IBM published a paper at AAAI 2025 on agentic digital twins for shipping fleet management. XMPro has a multi-agent system in production — reporting 30–40% reductions in unplanned downtime. And Nature Computational Science published a formal evolutionary framework this year.</a:t>
            </a:r>
          </a:p>
          <a:p>
            <a:endParaRPr/>
          </a:p>
          <a:p>
            <a:r>
              <a:t>This went from idea to research to production faster than most people realize.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architecture that's emerging isn't one giant AI doing everything. It's specialized agents working together. A monitor that detects. An analyst that finds root causes. A planner that schedules the response. They collaborate — and critically — they check each other's work. The agent that proposes is never the one that approves.</a:t>
            </a:r>
          </a:p>
          <a:p>
            <a:endParaRPr/>
          </a:p>
          <a:p>
            <a:r>
              <a:t>If that sounds like how a good engineering team works — it is.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isn't a solution for one industry. The same pattern applies everywhere. Edge AI device drifts? The twin diagnoses and retrains. Robotic arm shows bearing wear? The twin predicts and schedules maintenance. ADAS sensor gets conflicting data? The twin runs safety checks and adapts.</a:t>
            </a:r>
          </a:p>
          <a:p>
            <a:endParaRPr/>
          </a:p>
          <a:p>
            <a:r>
              <a:t>Different worlds. Same idea. That's how you know it's real.</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When an agent makes a bad decision, who owns it? Can you trace why it made that call? These systems create attack surfaces we haven't fully mapped. And governance frameworks weren't built for tools that act on their own.</a:t>
            </a:r>
          </a:p>
          <a:p>
            <a:endParaRPr/>
          </a:p>
          <a:p>
            <a:r>
              <a:t>These are solvable problems. But they're real.</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built something. Scan the QR code — you can talk to an agentic digital twin right now. Three of them: edge AI, robotic arm, ADAS. Ask what's wrong. Inject issues. Watch it reason.</a:t>
            </a:r>
          </a:p>
          <a:p>
            <a:endParaRPr/>
          </a:p>
          <a:p>
            <a:r>
              <a:t>[Give them 10–15 seconds to scan.]</a:t>
            </a:r>
          </a:p>
          <a:p>
            <a:endParaRPr/>
          </a:p>
          <a:p>
            <a:r>
              <a:t>The URL is at the bottom if you'd rather type. It'll be live after the talk too — no rush.</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Digital twins already have the data and models. Agentic AI gives them the ability to act on it. That's it. That's the whole idea. One new layer.</a:t>
            </a:r>
          </a:p>
          <a:p>
            <a:endParaRPr/>
          </a:p>
          <a:p>
            <a:r>
              <a:t>Thank you. Come find me or scan the QR for my site.</a:t>
            </a:r>
          </a:p>
          <a:p>
            <a:endParaRPr/>
          </a:p>
          <a:p>
            <a:r>
              <a:t>[This slide stays up during Q&amp;A — contact info and QR visible.]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[Click to this after Q&amp;A wraps, as your final word.]</a:t>
            </a:r>
          </a:p>
          <a:p>
            <a:endParaRPr dirty="0"/>
          </a:p>
          <a:p>
            <a:r>
              <a:rPr dirty="0"/>
              <a:t>Thanks everyone.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72A"/>
            </a:gs>
            <a:gs pos="100000">
              <a:srgbClr val="1E1E2E"/>
            </a:gs>
          </a:gsLst>
          <a:lin scaled="0"/>
        </a:gradFill>
        <a:effectLst/>
      </p:bgPr>
    </p:bg>
    <p:spTree>
      <p:nvGrpSpPr>
        <p:cNvPr id="1" name=""/>
        <p:cNvGrpSpPr/>
        <p:nvPr/>
      </p:nvGrpSpPr>
      <p:grpSpPr>
        <a:xfrm>
          <a:off x="0" y="0"/>
          <a:ext cx="0" cy="0"/>
          <a:chOff x="0" y="0"/>
          <a:chExt cx="0" cy="0"/>
        </a:xfrm>
      </p:grpSpPr>
      <p:sp>
        <p:nvSpPr>
          <p:cNvPr id="2" name="TextBox 1"/>
          <p:cNvSpPr txBox="1"/>
          <p:nvPr/>
        </p:nvSpPr>
        <p:spPr>
          <a:xfrm>
            <a:off x="1371600" y="2011680"/>
            <a:ext cx="9144000" cy="1828800"/>
          </a:xfrm>
          <a:prstGeom prst="rect">
            <a:avLst/>
          </a:prstGeom>
          <a:noFill/>
        </p:spPr>
        <p:txBody>
          <a:bodyPr wrap="square">
            <a:spAutoFit/>
          </a:bodyPr>
          <a:lstStyle/>
          <a:p>
            <a:pPr algn="l">
              <a:defRPr sz="5400" b="1" i="0">
                <a:solidFill>
                  <a:srgbClr val="F5F5F0"/>
                </a:solidFill>
                <a:latin typeface="Segoe UI"/>
              </a:defRPr>
            </a:pPr>
            <a:r>
              <a:rPr dirty="0"/>
              <a:t>The Next Layer</a:t>
            </a:r>
            <a:br>
              <a:rPr dirty="0"/>
            </a:br>
            <a:r>
              <a:rPr dirty="0"/>
              <a:t>for Digital Twins</a:t>
            </a:r>
          </a:p>
        </p:txBody>
      </p:sp>
      <p:sp>
        <p:nvSpPr>
          <p:cNvPr id="3" name="TextBox 2"/>
          <p:cNvSpPr txBox="1"/>
          <p:nvPr/>
        </p:nvSpPr>
        <p:spPr>
          <a:xfrm>
            <a:off x="1371600" y="3840480"/>
            <a:ext cx="9144000" cy="731520"/>
          </a:xfrm>
          <a:prstGeom prst="rect">
            <a:avLst/>
          </a:prstGeom>
          <a:noFill/>
        </p:spPr>
        <p:txBody>
          <a:bodyPr wrap="square">
            <a:spAutoFit/>
          </a:bodyPr>
          <a:lstStyle/>
          <a:p>
            <a:pPr algn="l">
              <a:defRPr sz="2600" b="0" i="0">
                <a:solidFill>
                  <a:srgbClr val="E8E4D9"/>
                </a:solidFill>
                <a:latin typeface="Segoe UI"/>
              </a:defRPr>
            </a:pPr>
            <a:r>
              <a:t>From Simulation to Autonomous Action</a:t>
            </a:r>
          </a:p>
        </p:txBody>
      </p:sp>
      <p:sp>
        <p:nvSpPr>
          <p:cNvPr id="4" name="Rectangle 3"/>
          <p:cNvSpPr/>
          <p:nvPr/>
        </p:nvSpPr>
        <p:spPr>
          <a:xfrm>
            <a:off x="1371600" y="4937760"/>
            <a:ext cx="2743200" cy="10972"/>
          </a:xfrm>
          <a:prstGeom prst="rect">
            <a:avLst/>
          </a:prstGeom>
          <a:solidFill>
            <a:srgbClr val="D4D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71600" y="5166360"/>
            <a:ext cx="6400800" cy="365760"/>
          </a:xfrm>
          <a:prstGeom prst="rect">
            <a:avLst/>
          </a:prstGeom>
          <a:noFill/>
        </p:spPr>
        <p:txBody>
          <a:bodyPr wrap="square">
            <a:spAutoFit/>
          </a:bodyPr>
          <a:lstStyle/>
          <a:p>
            <a:pPr algn="l">
              <a:defRPr sz="1800" b="0" i="0">
                <a:solidFill>
                  <a:srgbClr val="8B919C"/>
                </a:solidFill>
                <a:latin typeface="Segoe UI"/>
              </a:defRPr>
            </a:pPr>
            <a:r>
              <a:rPr dirty="0"/>
              <a:t>Anthony Poole  ·  Software Engineer, Microsoft</a:t>
            </a:r>
          </a:p>
        </p:txBody>
      </p:sp>
      <p:sp>
        <p:nvSpPr>
          <p:cNvPr id="6" name="TextBox 5"/>
          <p:cNvSpPr txBox="1"/>
          <p:nvPr/>
        </p:nvSpPr>
        <p:spPr>
          <a:xfrm>
            <a:off x="1371600" y="5532120"/>
            <a:ext cx="5486400" cy="365760"/>
          </a:xfrm>
          <a:prstGeom prst="rect">
            <a:avLst/>
          </a:prstGeom>
          <a:noFill/>
        </p:spPr>
        <p:txBody>
          <a:bodyPr wrap="square">
            <a:spAutoFit/>
          </a:bodyPr>
          <a:lstStyle/>
          <a:p>
            <a:pPr algn="l">
              <a:defRPr sz="1400" b="0" i="0">
                <a:solidFill>
                  <a:srgbClr val="6B7280"/>
                </a:solidFill>
                <a:latin typeface="Segoe UI"/>
              </a:defRPr>
            </a:pPr>
            <a:r>
              <a:t>Microelectronics US 2026  ·  Embedded Systems Stage  ·  April 22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72A"/>
            </a:gs>
            <a:gs pos="100000">
              <a:srgbClr val="1E1E2E"/>
            </a:gs>
          </a:gsLst>
          <a:lin scaled="0"/>
        </a:gradFill>
        <a:effectLst/>
      </p:bgPr>
    </p:bg>
    <p:spTree>
      <p:nvGrpSpPr>
        <p:cNvPr id="1" name=""/>
        <p:cNvGrpSpPr/>
        <p:nvPr/>
      </p:nvGrpSpPr>
      <p:grpSpPr>
        <a:xfrm>
          <a:off x="0" y="0"/>
          <a:ext cx="0" cy="0"/>
          <a:chOff x="0" y="0"/>
          <a:chExt cx="0" cy="0"/>
        </a:xfrm>
      </p:grpSpPr>
      <p:sp>
        <p:nvSpPr>
          <p:cNvPr id="2" name="TextBox 1"/>
          <p:cNvSpPr txBox="1"/>
          <p:nvPr/>
        </p:nvSpPr>
        <p:spPr>
          <a:xfrm>
            <a:off x="1371600" y="2286000"/>
            <a:ext cx="9144000" cy="2286000"/>
          </a:xfrm>
          <a:prstGeom prst="rect">
            <a:avLst/>
          </a:prstGeom>
          <a:noFill/>
        </p:spPr>
        <p:txBody>
          <a:bodyPr wrap="square">
            <a:spAutoFit/>
          </a:bodyPr>
          <a:lstStyle/>
          <a:p>
            <a:pPr algn="l">
              <a:defRPr sz="7200" b="1" i="0">
                <a:solidFill>
                  <a:srgbClr val="F5F5F0"/>
                </a:solidFill>
                <a:latin typeface="Segoe UI"/>
              </a:defRPr>
            </a:pPr>
            <a:r>
              <a:rPr dirty="0"/>
              <a:t>Digital Twins</a:t>
            </a:r>
          </a:p>
        </p:txBody>
      </p:sp>
      <p:sp>
        <p:nvSpPr>
          <p:cNvPr id="3" name="Rectangle 2"/>
          <p:cNvSpPr/>
          <p:nvPr/>
        </p:nvSpPr>
        <p:spPr>
          <a:xfrm>
            <a:off x="1371600" y="3931920"/>
            <a:ext cx="2743200" cy="10972"/>
          </a:xfrm>
          <a:prstGeom prst="rect">
            <a:avLst/>
          </a:prstGeom>
          <a:solidFill>
            <a:srgbClr val="D4D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72A"/>
            </a:gs>
            <a:gs pos="100000">
              <a:srgbClr val="1E1E2E"/>
            </a:gs>
          </a:gsLst>
          <a:lin scaled="0"/>
        </a:gradFill>
        <a:effectLst/>
      </p:bgPr>
    </p:bg>
    <p:spTree>
      <p:nvGrpSpPr>
        <p:cNvPr id="1" name=""/>
        <p:cNvGrpSpPr/>
        <p:nvPr/>
      </p:nvGrpSpPr>
      <p:grpSpPr>
        <a:xfrm>
          <a:off x="0" y="0"/>
          <a:ext cx="0" cy="0"/>
          <a:chOff x="0" y="0"/>
          <a:chExt cx="0" cy="0"/>
        </a:xfrm>
      </p:grpSpPr>
      <p:sp>
        <p:nvSpPr>
          <p:cNvPr id="2" name="TextBox 1"/>
          <p:cNvSpPr txBox="1"/>
          <p:nvPr/>
        </p:nvSpPr>
        <p:spPr>
          <a:xfrm>
            <a:off x="1097280" y="457200"/>
            <a:ext cx="4572000" cy="457200"/>
          </a:xfrm>
          <a:prstGeom prst="rect">
            <a:avLst/>
          </a:prstGeom>
          <a:noFill/>
        </p:spPr>
        <p:txBody>
          <a:bodyPr wrap="square">
            <a:spAutoFit/>
          </a:bodyPr>
          <a:lstStyle/>
          <a:p>
            <a:pPr algn="l">
              <a:defRPr sz="2000" b="0" i="0">
                <a:solidFill>
                  <a:srgbClr val="8B919C"/>
                </a:solidFill>
                <a:latin typeface="Segoe UI"/>
              </a:defRPr>
            </a:pPr>
            <a:r>
              <a:t>The Foundation</a:t>
            </a:r>
          </a:p>
        </p:txBody>
      </p:sp>
      <p:sp>
        <p:nvSpPr>
          <p:cNvPr id="3" name="Rounded Rectangle 2"/>
          <p:cNvSpPr/>
          <p:nvPr/>
        </p:nvSpPr>
        <p:spPr>
          <a:xfrm>
            <a:off x="731520" y="1645920"/>
            <a:ext cx="4389120" cy="3657600"/>
          </a:xfrm>
          <a:prstGeom prst="roundRect">
            <a:avLst/>
          </a:prstGeom>
          <a:solidFill>
            <a:srgbClr val="151D30"/>
          </a:solidFill>
          <a:ln w="19050">
            <a:solidFill>
              <a:srgbClr val="D4D0C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3200" b="1">
                <a:solidFill>
                  <a:srgbClr val="F5F5F0"/>
                </a:solidFill>
                <a:latin typeface="Segoe UI"/>
              </a:defRPr>
            </a:pPr>
            <a:r>
              <a:t>Physical</a:t>
            </a:r>
            <a:br/>
            <a:r>
              <a:t>System</a:t>
            </a:r>
          </a:p>
        </p:txBody>
      </p:sp>
      <p:sp>
        <p:nvSpPr>
          <p:cNvPr id="4" name="TextBox 3"/>
          <p:cNvSpPr txBox="1"/>
          <p:nvPr/>
        </p:nvSpPr>
        <p:spPr>
          <a:xfrm>
            <a:off x="5212080" y="1828800"/>
            <a:ext cx="1828800" cy="1097280"/>
          </a:xfrm>
          <a:prstGeom prst="rect">
            <a:avLst/>
          </a:prstGeom>
          <a:noFill/>
        </p:spPr>
        <p:txBody>
          <a:bodyPr wrap="square">
            <a:spAutoFit/>
          </a:bodyPr>
          <a:lstStyle/>
          <a:p>
            <a:pPr algn="ctr">
              <a:defRPr sz="7200" b="0" i="0">
                <a:solidFill>
                  <a:srgbClr val="E8E4D9"/>
                </a:solidFill>
                <a:latin typeface="Segoe UI"/>
              </a:defRPr>
            </a:pPr>
            <a:r>
              <a:t>→</a:t>
            </a:r>
          </a:p>
        </p:txBody>
      </p:sp>
      <p:sp>
        <p:nvSpPr>
          <p:cNvPr id="5" name="TextBox 4"/>
          <p:cNvSpPr txBox="1"/>
          <p:nvPr/>
        </p:nvSpPr>
        <p:spPr>
          <a:xfrm>
            <a:off x="5212080" y="2651760"/>
            <a:ext cx="1828800" cy="457200"/>
          </a:xfrm>
          <a:prstGeom prst="rect">
            <a:avLst/>
          </a:prstGeom>
          <a:noFill/>
        </p:spPr>
        <p:txBody>
          <a:bodyPr wrap="square">
            <a:spAutoFit/>
          </a:bodyPr>
          <a:lstStyle/>
          <a:p>
            <a:pPr algn="ctr">
              <a:defRPr sz="1600" b="0" i="0">
                <a:solidFill>
                  <a:srgbClr val="8B919C"/>
                </a:solidFill>
                <a:latin typeface="Segoe UI"/>
              </a:defRPr>
            </a:pPr>
            <a:r>
              <a:t>Sensors &amp; Data</a:t>
            </a:r>
          </a:p>
        </p:txBody>
      </p:sp>
      <p:sp>
        <p:nvSpPr>
          <p:cNvPr id="6" name="TextBox 5"/>
          <p:cNvSpPr txBox="1"/>
          <p:nvPr/>
        </p:nvSpPr>
        <p:spPr>
          <a:xfrm>
            <a:off x="5212080" y="3474720"/>
            <a:ext cx="1828800" cy="1097280"/>
          </a:xfrm>
          <a:prstGeom prst="rect">
            <a:avLst/>
          </a:prstGeom>
          <a:noFill/>
        </p:spPr>
        <p:txBody>
          <a:bodyPr wrap="square">
            <a:spAutoFit/>
          </a:bodyPr>
          <a:lstStyle/>
          <a:p>
            <a:pPr algn="ctr">
              <a:defRPr sz="7200" b="0" i="0">
                <a:solidFill>
                  <a:srgbClr val="E8E4D9"/>
                </a:solidFill>
                <a:latin typeface="Segoe UI"/>
              </a:defRPr>
            </a:pPr>
            <a:r>
              <a:t>←</a:t>
            </a:r>
          </a:p>
        </p:txBody>
      </p:sp>
      <p:sp>
        <p:nvSpPr>
          <p:cNvPr id="7" name="TextBox 6"/>
          <p:cNvSpPr txBox="1"/>
          <p:nvPr/>
        </p:nvSpPr>
        <p:spPr>
          <a:xfrm>
            <a:off x="5212080" y="4297680"/>
            <a:ext cx="1828800" cy="457200"/>
          </a:xfrm>
          <a:prstGeom prst="rect">
            <a:avLst/>
          </a:prstGeom>
          <a:noFill/>
        </p:spPr>
        <p:txBody>
          <a:bodyPr wrap="square">
            <a:spAutoFit/>
          </a:bodyPr>
          <a:lstStyle/>
          <a:p>
            <a:pPr algn="ctr">
              <a:defRPr sz="1600" b="0" i="0">
                <a:solidFill>
                  <a:srgbClr val="8B919C"/>
                </a:solidFill>
                <a:latin typeface="Segoe UI"/>
              </a:defRPr>
            </a:pPr>
            <a:r>
              <a:t>Simulation</a:t>
            </a:r>
          </a:p>
        </p:txBody>
      </p:sp>
      <p:sp>
        <p:nvSpPr>
          <p:cNvPr id="8" name="Rounded Rectangle 7"/>
          <p:cNvSpPr/>
          <p:nvPr/>
        </p:nvSpPr>
        <p:spPr>
          <a:xfrm>
            <a:off x="7040880" y="1645920"/>
            <a:ext cx="4389120" cy="3657600"/>
          </a:xfrm>
          <a:prstGeom prst="roundRect">
            <a:avLst/>
          </a:prstGeom>
          <a:solidFill>
            <a:srgbClr val="151D30"/>
          </a:solidFill>
          <a:ln w="19050">
            <a:solidFill>
              <a:srgbClr val="D4D0C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3200" b="1">
                <a:solidFill>
                  <a:srgbClr val="F5F5F0"/>
                </a:solidFill>
                <a:latin typeface="Segoe UI"/>
              </a:defRPr>
            </a:pPr>
            <a:r>
              <a:t>Digital</a:t>
            </a:r>
            <a:br/>
            <a:r>
              <a:t>Twin</a:t>
            </a:r>
          </a:p>
        </p:txBody>
      </p:sp>
      <p:sp>
        <p:nvSpPr>
          <p:cNvPr id="9" name="TextBox 8"/>
          <p:cNvSpPr txBox="1"/>
          <p:nvPr/>
        </p:nvSpPr>
        <p:spPr>
          <a:xfrm>
            <a:off x="1097280" y="5669280"/>
            <a:ext cx="10058400" cy="400110"/>
          </a:xfrm>
          <a:prstGeom prst="rect">
            <a:avLst/>
          </a:prstGeom>
          <a:noFill/>
        </p:spPr>
        <p:txBody>
          <a:bodyPr wrap="square">
            <a:spAutoFit/>
          </a:bodyPr>
          <a:lstStyle/>
          <a:p>
            <a:pPr algn="l">
              <a:defRPr sz="2000" b="0" i="0">
                <a:solidFill>
                  <a:srgbClr val="8B919C"/>
                </a:solidFill>
                <a:latin typeface="Segoe UI"/>
              </a:defRPr>
            </a:pPr>
            <a:r>
              <a:rPr dirty="0"/>
              <a:t>A virtual model, continuously synced with a physical system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72A"/>
            </a:gs>
            <a:gs pos="100000">
              <a:srgbClr val="1E1E2E"/>
            </a:gs>
          </a:gsLst>
          <a:lin scaled="0"/>
        </a:gradFill>
        <a:effectLst/>
      </p:bgPr>
    </p:bg>
    <p:spTree>
      <p:nvGrpSpPr>
        <p:cNvPr id="1" name=""/>
        <p:cNvGrpSpPr/>
        <p:nvPr/>
      </p:nvGrpSpPr>
      <p:grpSpPr>
        <a:xfrm>
          <a:off x="0" y="0"/>
          <a:ext cx="0" cy="0"/>
          <a:chOff x="0" y="0"/>
          <a:chExt cx="0" cy="0"/>
        </a:xfrm>
      </p:grpSpPr>
      <p:sp>
        <p:nvSpPr>
          <p:cNvPr id="2" name="TextBox 1"/>
          <p:cNvSpPr txBox="1"/>
          <p:nvPr/>
        </p:nvSpPr>
        <p:spPr>
          <a:xfrm>
            <a:off x="1371600" y="1097280"/>
            <a:ext cx="6858000" cy="1097280"/>
          </a:xfrm>
          <a:prstGeom prst="rect">
            <a:avLst/>
          </a:prstGeom>
          <a:noFill/>
        </p:spPr>
        <p:txBody>
          <a:bodyPr wrap="square">
            <a:spAutoFit/>
          </a:bodyPr>
          <a:lstStyle/>
          <a:p>
            <a:pPr algn="l">
              <a:defRPr sz="6000" b="1" i="0">
                <a:solidFill>
                  <a:srgbClr val="F5F5F0"/>
                </a:solidFill>
                <a:latin typeface="Segoe UI"/>
              </a:defRPr>
            </a:pPr>
            <a:r>
              <a:t>$22K / min</a:t>
            </a:r>
          </a:p>
        </p:txBody>
      </p:sp>
      <p:sp>
        <p:nvSpPr>
          <p:cNvPr id="3" name="TextBox 2"/>
          <p:cNvSpPr txBox="1"/>
          <p:nvPr/>
        </p:nvSpPr>
        <p:spPr>
          <a:xfrm>
            <a:off x="7772400" y="1280160"/>
            <a:ext cx="3017520" cy="822960"/>
          </a:xfrm>
          <a:prstGeom prst="rect">
            <a:avLst/>
          </a:prstGeom>
          <a:noFill/>
        </p:spPr>
        <p:txBody>
          <a:bodyPr wrap="square">
            <a:spAutoFit/>
          </a:bodyPr>
          <a:lstStyle/>
          <a:p>
            <a:pPr algn="r">
              <a:defRPr sz="2200" b="0" i="0">
                <a:solidFill>
                  <a:srgbClr val="8B919C"/>
                </a:solidFill>
                <a:latin typeface="Segoe UI"/>
              </a:defRPr>
            </a:pPr>
            <a:r>
              <a:t>Automotive downtime</a:t>
            </a:r>
          </a:p>
        </p:txBody>
      </p:sp>
      <p:sp>
        <p:nvSpPr>
          <p:cNvPr id="4" name="Rectangle 3"/>
          <p:cNvSpPr/>
          <p:nvPr/>
        </p:nvSpPr>
        <p:spPr>
          <a:xfrm>
            <a:off x="1371600" y="2468879"/>
            <a:ext cx="9418320" cy="18288"/>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71600" y="2651760"/>
            <a:ext cx="6858000" cy="1097280"/>
          </a:xfrm>
          <a:prstGeom prst="rect">
            <a:avLst/>
          </a:prstGeom>
          <a:noFill/>
        </p:spPr>
        <p:txBody>
          <a:bodyPr wrap="square">
            <a:spAutoFit/>
          </a:bodyPr>
          <a:lstStyle/>
          <a:p>
            <a:pPr algn="l">
              <a:defRPr sz="6000" b="1" i="0">
                <a:solidFill>
                  <a:srgbClr val="F5F5F0"/>
                </a:solidFill>
                <a:latin typeface="Segoe UI"/>
              </a:defRPr>
            </a:pPr>
            <a:r>
              <a:t>$5M / hour</a:t>
            </a:r>
          </a:p>
        </p:txBody>
      </p:sp>
      <p:sp>
        <p:nvSpPr>
          <p:cNvPr id="6" name="TextBox 5"/>
          <p:cNvSpPr txBox="1"/>
          <p:nvPr/>
        </p:nvSpPr>
        <p:spPr>
          <a:xfrm>
            <a:off x="7772400" y="2834640"/>
            <a:ext cx="3017520" cy="822960"/>
          </a:xfrm>
          <a:prstGeom prst="rect">
            <a:avLst/>
          </a:prstGeom>
          <a:noFill/>
        </p:spPr>
        <p:txBody>
          <a:bodyPr wrap="square">
            <a:spAutoFit/>
          </a:bodyPr>
          <a:lstStyle/>
          <a:p>
            <a:pPr algn="r">
              <a:defRPr sz="2200" b="0" i="0">
                <a:solidFill>
                  <a:srgbClr val="8B919C"/>
                </a:solidFill>
                <a:latin typeface="Segoe UI"/>
              </a:defRPr>
            </a:pPr>
            <a:r>
              <a:t>Semiconductor fab downtime</a:t>
            </a:r>
          </a:p>
        </p:txBody>
      </p:sp>
      <p:sp>
        <p:nvSpPr>
          <p:cNvPr id="7" name="Rectangle 6"/>
          <p:cNvSpPr/>
          <p:nvPr/>
        </p:nvSpPr>
        <p:spPr>
          <a:xfrm>
            <a:off x="1371600" y="4023359"/>
            <a:ext cx="9418320" cy="18288"/>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371600" y="4206240"/>
            <a:ext cx="6858000" cy="1097280"/>
          </a:xfrm>
          <a:prstGeom prst="rect">
            <a:avLst/>
          </a:prstGeom>
          <a:noFill/>
        </p:spPr>
        <p:txBody>
          <a:bodyPr wrap="square">
            <a:spAutoFit/>
          </a:bodyPr>
          <a:lstStyle/>
          <a:p>
            <a:pPr algn="l">
              <a:defRPr sz="6000" b="1" i="0">
                <a:solidFill>
                  <a:srgbClr val="F5F5F0"/>
                </a:solidFill>
                <a:latin typeface="Segoe UI"/>
              </a:defRPr>
            </a:pPr>
            <a:r>
              <a:t>$121B / year</a:t>
            </a:r>
          </a:p>
        </p:txBody>
      </p:sp>
      <p:sp>
        <p:nvSpPr>
          <p:cNvPr id="9" name="TextBox 8"/>
          <p:cNvSpPr txBox="1"/>
          <p:nvPr/>
        </p:nvSpPr>
        <p:spPr>
          <a:xfrm>
            <a:off x="7772400" y="4389120"/>
            <a:ext cx="3017520" cy="822960"/>
          </a:xfrm>
          <a:prstGeom prst="rect">
            <a:avLst/>
          </a:prstGeom>
          <a:noFill/>
        </p:spPr>
        <p:txBody>
          <a:bodyPr wrap="square">
            <a:spAutoFit/>
          </a:bodyPr>
          <a:lstStyle/>
          <a:p>
            <a:pPr algn="r">
              <a:defRPr sz="2200" b="0" i="0">
                <a:solidFill>
                  <a:srgbClr val="8B919C"/>
                </a:solidFill>
                <a:latin typeface="Segoe UI"/>
              </a:defRPr>
            </a:pPr>
            <a:r>
              <a:t>U.S. grid outage costs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72A"/>
            </a:gs>
            <a:gs pos="100000">
              <a:srgbClr val="1E1E2E"/>
            </a:gs>
          </a:gsLst>
          <a:lin scaled="0"/>
        </a:gradFill>
        <a:effectLst/>
      </p:bgPr>
    </p:bg>
    <p:spTree>
      <p:nvGrpSpPr>
        <p:cNvPr id="1" name=""/>
        <p:cNvGrpSpPr/>
        <p:nvPr/>
      </p:nvGrpSpPr>
      <p:grpSpPr>
        <a:xfrm>
          <a:off x="0" y="0"/>
          <a:ext cx="0" cy="0"/>
          <a:chOff x="0" y="0"/>
          <a:chExt cx="0" cy="0"/>
        </a:xfrm>
      </p:grpSpPr>
      <p:sp>
        <p:nvSpPr>
          <p:cNvPr id="2" name="TextBox 1"/>
          <p:cNvSpPr txBox="1"/>
          <p:nvPr/>
        </p:nvSpPr>
        <p:spPr>
          <a:xfrm>
            <a:off x="1097280" y="457200"/>
            <a:ext cx="4572000" cy="457200"/>
          </a:xfrm>
          <a:prstGeom prst="rect">
            <a:avLst/>
          </a:prstGeom>
          <a:noFill/>
        </p:spPr>
        <p:txBody>
          <a:bodyPr wrap="square">
            <a:spAutoFit/>
          </a:bodyPr>
          <a:lstStyle/>
          <a:p>
            <a:pPr algn="l">
              <a:defRPr sz="2000" b="0" i="0">
                <a:solidFill>
                  <a:srgbClr val="8B919C"/>
                </a:solidFill>
                <a:latin typeface="Segoe UI"/>
              </a:defRPr>
            </a:pPr>
            <a:r>
              <a:t>The Evolution</a:t>
            </a:r>
          </a:p>
        </p:txBody>
      </p:sp>
      <p:sp>
        <p:nvSpPr>
          <p:cNvPr id="3" name="Rounded Rectangle 2"/>
          <p:cNvSpPr/>
          <p:nvPr/>
        </p:nvSpPr>
        <p:spPr>
          <a:xfrm>
            <a:off x="746607" y="1645920"/>
            <a:ext cx="2468880" cy="1188720"/>
          </a:xfrm>
          <a:prstGeom prst="roundRect">
            <a:avLst/>
          </a:prstGeom>
          <a:solidFill>
            <a:srgbClr val="151D30"/>
          </a:solidFill>
          <a:ln w="19050">
            <a:solidFill>
              <a:srgbClr val="6B728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000" b="1">
                <a:solidFill>
                  <a:srgbClr val="F5F5F0"/>
                </a:solidFill>
                <a:latin typeface="Segoe UI"/>
              </a:defRPr>
            </a:pPr>
            <a:r>
              <a:t>Gen 1: Static</a:t>
            </a:r>
          </a:p>
        </p:txBody>
      </p:sp>
      <p:sp>
        <p:nvSpPr>
          <p:cNvPr id="4" name="TextBox 3"/>
          <p:cNvSpPr txBox="1"/>
          <p:nvPr/>
        </p:nvSpPr>
        <p:spPr>
          <a:xfrm>
            <a:off x="746607" y="3017520"/>
            <a:ext cx="2468880" cy="1097280"/>
          </a:xfrm>
          <a:prstGeom prst="rect">
            <a:avLst/>
          </a:prstGeom>
          <a:noFill/>
        </p:spPr>
        <p:txBody>
          <a:bodyPr wrap="square">
            <a:spAutoFit/>
          </a:bodyPr>
          <a:lstStyle/>
          <a:p>
            <a:pPr algn="ctr">
              <a:defRPr sz="1500" b="0" i="0">
                <a:solidFill>
                  <a:srgbClr val="8B919C"/>
                </a:solidFill>
                <a:latin typeface="Segoe UI"/>
              </a:defRPr>
            </a:pPr>
            <a:r>
              <a:t>"Here's what</a:t>
            </a:r>
            <a:br/>
            <a:r>
              <a:t>it looks like"</a:t>
            </a:r>
          </a:p>
        </p:txBody>
      </p:sp>
      <p:sp>
        <p:nvSpPr>
          <p:cNvPr id="5" name="TextBox 4"/>
          <p:cNvSpPr txBox="1"/>
          <p:nvPr/>
        </p:nvSpPr>
        <p:spPr>
          <a:xfrm>
            <a:off x="3215487" y="1920240"/>
            <a:ext cx="274320" cy="914400"/>
          </a:xfrm>
          <a:prstGeom prst="rect">
            <a:avLst/>
          </a:prstGeom>
          <a:noFill/>
        </p:spPr>
        <p:txBody>
          <a:bodyPr wrap="square">
            <a:spAutoFit/>
          </a:bodyPr>
          <a:lstStyle/>
          <a:p>
            <a:pPr algn="ctr">
              <a:defRPr sz="2400" b="0" i="0">
                <a:solidFill>
                  <a:srgbClr val="6B7280"/>
                </a:solidFill>
                <a:latin typeface="Segoe UI"/>
              </a:defRPr>
            </a:pPr>
            <a:r>
              <a:t>→</a:t>
            </a:r>
          </a:p>
        </p:txBody>
      </p:sp>
      <p:sp>
        <p:nvSpPr>
          <p:cNvPr id="6" name="Rounded Rectangle 5"/>
          <p:cNvSpPr/>
          <p:nvPr/>
        </p:nvSpPr>
        <p:spPr>
          <a:xfrm>
            <a:off x="3489807" y="1645920"/>
            <a:ext cx="2468880" cy="1188720"/>
          </a:xfrm>
          <a:prstGeom prst="roundRect">
            <a:avLst/>
          </a:prstGeom>
          <a:solidFill>
            <a:srgbClr val="151D30"/>
          </a:solidFill>
          <a:ln w="19050">
            <a:solidFill>
              <a:srgbClr val="6B728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000" b="1">
                <a:solidFill>
                  <a:srgbClr val="F5F5F0"/>
                </a:solidFill>
                <a:latin typeface="Segoe UI"/>
              </a:defRPr>
            </a:pPr>
            <a:r>
              <a:t>Gen 2: Reactive</a:t>
            </a:r>
          </a:p>
        </p:txBody>
      </p:sp>
      <p:sp>
        <p:nvSpPr>
          <p:cNvPr id="7" name="TextBox 6"/>
          <p:cNvSpPr txBox="1"/>
          <p:nvPr/>
        </p:nvSpPr>
        <p:spPr>
          <a:xfrm>
            <a:off x="3489807" y="3017520"/>
            <a:ext cx="2468880" cy="1097280"/>
          </a:xfrm>
          <a:prstGeom prst="rect">
            <a:avLst/>
          </a:prstGeom>
          <a:noFill/>
        </p:spPr>
        <p:txBody>
          <a:bodyPr wrap="square">
            <a:spAutoFit/>
          </a:bodyPr>
          <a:lstStyle/>
          <a:p>
            <a:pPr algn="ctr">
              <a:defRPr sz="1500" b="0" i="0">
                <a:solidFill>
                  <a:srgbClr val="8B919C"/>
                </a:solidFill>
                <a:latin typeface="Segoe UI"/>
              </a:defRPr>
            </a:pPr>
            <a:r>
              <a:t>"Something</a:t>
            </a:r>
            <a:br/>
            <a:r>
              <a:t>went wrong"</a:t>
            </a:r>
          </a:p>
        </p:txBody>
      </p:sp>
      <p:sp>
        <p:nvSpPr>
          <p:cNvPr id="8" name="TextBox 7"/>
          <p:cNvSpPr txBox="1"/>
          <p:nvPr/>
        </p:nvSpPr>
        <p:spPr>
          <a:xfrm>
            <a:off x="5958687" y="1920240"/>
            <a:ext cx="274320" cy="914400"/>
          </a:xfrm>
          <a:prstGeom prst="rect">
            <a:avLst/>
          </a:prstGeom>
          <a:noFill/>
        </p:spPr>
        <p:txBody>
          <a:bodyPr wrap="square">
            <a:spAutoFit/>
          </a:bodyPr>
          <a:lstStyle/>
          <a:p>
            <a:pPr algn="ctr">
              <a:defRPr sz="2400" b="0" i="0">
                <a:solidFill>
                  <a:srgbClr val="6B7280"/>
                </a:solidFill>
                <a:latin typeface="Segoe UI"/>
              </a:defRPr>
            </a:pPr>
            <a:r>
              <a:t>→</a:t>
            </a:r>
          </a:p>
        </p:txBody>
      </p:sp>
      <p:sp>
        <p:nvSpPr>
          <p:cNvPr id="9" name="Rounded Rectangle 8"/>
          <p:cNvSpPr/>
          <p:nvPr/>
        </p:nvSpPr>
        <p:spPr>
          <a:xfrm>
            <a:off x="6233007" y="1645920"/>
            <a:ext cx="2468880" cy="1188720"/>
          </a:xfrm>
          <a:prstGeom prst="roundRect">
            <a:avLst/>
          </a:prstGeom>
          <a:solidFill>
            <a:srgbClr val="151D30"/>
          </a:solidFill>
          <a:ln w="19050">
            <a:solidFill>
              <a:srgbClr val="6B728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000" b="1">
                <a:solidFill>
                  <a:srgbClr val="F5F5F0"/>
                </a:solidFill>
                <a:latin typeface="Segoe UI"/>
              </a:defRPr>
            </a:pPr>
            <a:r>
              <a:t>Gen 3: Predictive</a:t>
            </a:r>
          </a:p>
        </p:txBody>
      </p:sp>
      <p:sp>
        <p:nvSpPr>
          <p:cNvPr id="10" name="TextBox 9"/>
          <p:cNvSpPr txBox="1"/>
          <p:nvPr/>
        </p:nvSpPr>
        <p:spPr>
          <a:xfrm>
            <a:off x="6233007" y="3017520"/>
            <a:ext cx="2468880" cy="1097280"/>
          </a:xfrm>
          <a:prstGeom prst="rect">
            <a:avLst/>
          </a:prstGeom>
          <a:noFill/>
        </p:spPr>
        <p:txBody>
          <a:bodyPr wrap="square">
            <a:spAutoFit/>
          </a:bodyPr>
          <a:lstStyle/>
          <a:p>
            <a:pPr algn="ctr">
              <a:defRPr sz="1500" b="0" i="0">
                <a:solidFill>
                  <a:srgbClr val="8B919C"/>
                </a:solidFill>
                <a:latin typeface="Segoe UI"/>
              </a:defRPr>
            </a:pPr>
            <a:r>
              <a:t>"Something</a:t>
            </a:r>
            <a:br/>
            <a:r>
              <a:t>will go wrong"</a:t>
            </a:r>
          </a:p>
        </p:txBody>
      </p:sp>
      <p:sp>
        <p:nvSpPr>
          <p:cNvPr id="11" name="TextBox 10"/>
          <p:cNvSpPr txBox="1"/>
          <p:nvPr/>
        </p:nvSpPr>
        <p:spPr>
          <a:xfrm>
            <a:off x="8701887" y="1920240"/>
            <a:ext cx="274320" cy="914400"/>
          </a:xfrm>
          <a:prstGeom prst="rect">
            <a:avLst/>
          </a:prstGeom>
          <a:noFill/>
        </p:spPr>
        <p:txBody>
          <a:bodyPr wrap="square">
            <a:spAutoFit/>
          </a:bodyPr>
          <a:lstStyle/>
          <a:p>
            <a:pPr algn="ctr">
              <a:defRPr sz="2400" b="0" i="0">
                <a:solidFill>
                  <a:srgbClr val="6B7280"/>
                </a:solidFill>
                <a:latin typeface="Segoe UI"/>
              </a:defRPr>
            </a:pPr>
            <a:r>
              <a:t>→</a:t>
            </a:r>
          </a:p>
        </p:txBody>
      </p:sp>
      <p:sp>
        <p:nvSpPr>
          <p:cNvPr id="12" name="Rounded Rectangle 11"/>
          <p:cNvSpPr/>
          <p:nvPr/>
        </p:nvSpPr>
        <p:spPr>
          <a:xfrm>
            <a:off x="8976207" y="1645920"/>
            <a:ext cx="2468880" cy="1188720"/>
          </a:xfrm>
          <a:prstGeom prst="roundRect">
            <a:avLst/>
          </a:prstGeom>
          <a:noFill/>
          <a:ln w="19050">
            <a:solidFill>
              <a:srgbClr val="D4D0C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000" b="1">
                <a:solidFill>
                  <a:srgbClr val="E8E4D9"/>
                </a:solidFill>
                <a:latin typeface="Segoe UI"/>
              </a:defRPr>
            </a:pPr>
            <a:r>
              <a:t>Gen 4: ?</a:t>
            </a:r>
          </a:p>
        </p:txBody>
      </p:sp>
      <p:sp>
        <p:nvSpPr>
          <p:cNvPr id="13" name="TextBox 12"/>
          <p:cNvSpPr txBox="1"/>
          <p:nvPr/>
        </p:nvSpPr>
        <p:spPr>
          <a:xfrm>
            <a:off x="914400" y="4754880"/>
            <a:ext cx="10058400" cy="769441"/>
          </a:xfrm>
          <a:prstGeom prst="rect">
            <a:avLst/>
          </a:prstGeom>
          <a:noFill/>
        </p:spPr>
        <p:txBody>
          <a:bodyPr wrap="square">
            <a:spAutoFit/>
          </a:bodyPr>
          <a:lstStyle/>
          <a:p>
            <a:pPr algn="l">
              <a:defRPr sz="2200" b="0" i="0">
                <a:solidFill>
                  <a:srgbClr val="E8E4D9"/>
                </a:solidFill>
                <a:latin typeface="Segoe UI"/>
              </a:defRPr>
            </a:pPr>
            <a:r>
              <a:rPr dirty="0"/>
              <a:t>Each generation gets smarter about what's happening</a:t>
            </a:r>
            <a:br>
              <a:rPr dirty="0"/>
            </a:br>
            <a:r>
              <a:rPr dirty="0"/>
              <a:t>But the human is still the one who decides what to do about it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clickEffect">
                                  <p:stCondLst>
                                    <p:cond delay="0"/>
                                  </p:stCondLst>
                                  <p:childTnLst>
                                    <p:set>
                                      <p:cBhvr>
                                        <p:cTn id="9" dur="1" fill="hold">
                                          <p:stCondLst>
                                            <p:cond delay="0"/>
                                          </p:stCondLst>
                                        </p:cTn>
                                        <p:tgtEl>
                                          <p:spTgt spid="4"/>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5"/>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8"/>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12"/>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72A"/>
            </a:gs>
            <a:gs pos="100000">
              <a:srgbClr val="1E1E2E"/>
            </a:gs>
          </a:gsLst>
          <a:lin scaled="0"/>
        </a:gradFill>
        <a:effectLst/>
      </p:bgPr>
    </p:bg>
    <p:spTree>
      <p:nvGrpSpPr>
        <p:cNvPr id="1" name=""/>
        <p:cNvGrpSpPr/>
        <p:nvPr/>
      </p:nvGrpSpPr>
      <p:grpSpPr>
        <a:xfrm>
          <a:off x="0" y="0"/>
          <a:ext cx="0" cy="0"/>
          <a:chOff x="0" y="0"/>
          <a:chExt cx="0" cy="0"/>
        </a:xfrm>
      </p:grpSpPr>
      <p:sp>
        <p:nvSpPr>
          <p:cNvPr id="2" name="TextBox 1"/>
          <p:cNvSpPr txBox="1"/>
          <p:nvPr/>
        </p:nvSpPr>
        <p:spPr>
          <a:xfrm>
            <a:off x="1524000" y="2413337"/>
            <a:ext cx="9144000" cy="2123658"/>
          </a:xfrm>
          <a:prstGeom prst="rect">
            <a:avLst/>
          </a:prstGeom>
          <a:noFill/>
        </p:spPr>
        <p:txBody>
          <a:bodyPr wrap="square">
            <a:spAutoFit/>
          </a:bodyPr>
          <a:lstStyle/>
          <a:p>
            <a:pPr algn="ctr">
              <a:defRPr sz="4200" b="1" i="0">
                <a:solidFill>
                  <a:srgbClr val="E8E4D9"/>
                </a:solidFill>
                <a:latin typeface="Segoe UI"/>
              </a:defRPr>
            </a:pPr>
            <a:r>
              <a:rPr sz="4400" dirty="0"/>
              <a:t>Digital twins can see everythin</a:t>
            </a:r>
            <a:r>
              <a:rPr lang="en-US" sz="4400" dirty="0"/>
              <a:t>g</a:t>
            </a:r>
          </a:p>
          <a:p>
            <a:pPr algn="ctr">
              <a:defRPr sz="4200" b="1" i="0">
                <a:solidFill>
                  <a:srgbClr val="E8E4D9"/>
                </a:solidFill>
                <a:latin typeface="Segoe UI"/>
              </a:defRPr>
            </a:pPr>
            <a:br>
              <a:rPr sz="4400" dirty="0"/>
            </a:br>
            <a:r>
              <a:rPr sz="4400" dirty="0"/>
              <a:t>They can’t </a:t>
            </a:r>
            <a:r>
              <a:rPr lang="en-US" sz="4400" dirty="0"/>
              <a:t>act</a:t>
            </a:r>
            <a:r>
              <a:rPr sz="4400" dirty="0"/>
              <a:t> </a:t>
            </a:r>
            <a:r>
              <a:rPr lang="en-US" sz="4400" dirty="0"/>
              <a:t>on </a:t>
            </a:r>
            <a:r>
              <a:rPr sz="4400" dirty="0"/>
              <a:t>what they see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72A"/>
            </a:gs>
            <a:gs pos="100000">
              <a:srgbClr val="1E1E2E"/>
            </a:gs>
          </a:gsLst>
          <a:lin scaled="0"/>
        </a:gradFill>
        <a:effectLst/>
      </p:bgPr>
    </p:bg>
    <p:spTree>
      <p:nvGrpSpPr>
        <p:cNvPr id="1" name=""/>
        <p:cNvGrpSpPr/>
        <p:nvPr/>
      </p:nvGrpSpPr>
      <p:grpSpPr>
        <a:xfrm>
          <a:off x="0" y="0"/>
          <a:ext cx="0" cy="0"/>
          <a:chOff x="0" y="0"/>
          <a:chExt cx="0" cy="0"/>
        </a:xfrm>
      </p:grpSpPr>
      <p:sp>
        <p:nvSpPr>
          <p:cNvPr id="2" name="TextBox 1"/>
          <p:cNvSpPr txBox="1"/>
          <p:nvPr/>
        </p:nvSpPr>
        <p:spPr>
          <a:xfrm>
            <a:off x="0" y="2286000"/>
            <a:ext cx="12191695" cy="2286000"/>
          </a:xfrm>
          <a:prstGeom prst="rect">
            <a:avLst/>
          </a:prstGeom>
          <a:noFill/>
        </p:spPr>
        <p:txBody>
          <a:bodyPr wrap="square">
            <a:spAutoFit/>
          </a:bodyPr>
          <a:lstStyle/>
          <a:p>
            <a:pPr algn="ctr">
              <a:defRPr sz="7200" b="1" i="0">
                <a:solidFill>
                  <a:srgbClr val="F5F5F0"/>
                </a:solidFill>
                <a:latin typeface="Segoe UI"/>
              </a:defRPr>
            </a:pPr>
            <a:r>
              <a:rPr dirty="0"/>
              <a:t>2:14 AM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72A"/>
            </a:gs>
            <a:gs pos="100000">
              <a:srgbClr val="1E1E2E"/>
            </a:gs>
          </a:gsLst>
          <a:lin scaled="0"/>
        </a:gradFill>
        <a:effectLst/>
      </p:bgPr>
    </p:bg>
    <p:spTree>
      <p:nvGrpSpPr>
        <p:cNvPr id="1" name=""/>
        <p:cNvGrpSpPr/>
        <p:nvPr/>
      </p:nvGrpSpPr>
      <p:grpSpPr>
        <a:xfrm>
          <a:off x="0" y="0"/>
          <a:ext cx="0" cy="0"/>
          <a:chOff x="0" y="0"/>
          <a:chExt cx="0" cy="0"/>
        </a:xfrm>
      </p:grpSpPr>
      <p:sp>
        <p:nvSpPr>
          <p:cNvPr id="2" name="TextBox 1"/>
          <p:cNvSpPr txBox="1"/>
          <p:nvPr/>
        </p:nvSpPr>
        <p:spPr>
          <a:xfrm>
            <a:off x="1371600" y="2286000"/>
            <a:ext cx="9144000" cy="1371600"/>
          </a:xfrm>
          <a:prstGeom prst="rect">
            <a:avLst/>
          </a:prstGeom>
          <a:noFill/>
        </p:spPr>
        <p:txBody>
          <a:bodyPr wrap="square">
            <a:spAutoFit/>
          </a:bodyPr>
          <a:lstStyle/>
          <a:p>
            <a:pPr algn="l">
              <a:defRPr sz="7200" b="1" i="0">
                <a:solidFill>
                  <a:srgbClr val="F5F5F0"/>
                </a:solidFill>
                <a:latin typeface="Segoe UI"/>
              </a:defRPr>
            </a:pPr>
            <a:r>
              <a:t>Agents</a:t>
            </a:r>
          </a:p>
        </p:txBody>
      </p:sp>
      <p:sp>
        <p:nvSpPr>
          <p:cNvPr id="3" name="Rectangle 2"/>
          <p:cNvSpPr/>
          <p:nvPr/>
        </p:nvSpPr>
        <p:spPr>
          <a:xfrm>
            <a:off x="1371600" y="3931920"/>
            <a:ext cx="2743200" cy="10972"/>
          </a:xfrm>
          <a:prstGeom prst="rect">
            <a:avLst/>
          </a:prstGeom>
          <a:solidFill>
            <a:srgbClr val="D4D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72A"/>
            </a:gs>
            <a:gs pos="100000">
              <a:srgbClr val="1E1E2E"/>
            </a:gs>
          </a:gsLst>
          <a:lin scaled="0"/>
        </a:gradFill>
        <a:effectLst/>
      </p:bgPr>
    </p:bg>
    <p:spTree>
      <p:nvGrpSpPr>
        <p:cNvPr id="1" name=""/>
        <p:cNvGrpSpPr/>
        <p:nvPr/>
      </p:nvGrpSpPr>
      <p:grpSpPr>
        <a:xfrm>
          <a:off x="0" y="0"/>
          <a:ext cx="0" cy="0"/>
          <a:chOff x="0" y="0"/>
          <a:chExt cx="0" cy="0"/>
        </a:xfrm>
      </p:grpSpPr>
      <p:sp>
        <p:nvSpPr>
          <p:cNvPr id="2" name="TextBox 1"/>
          <p:cNvSpPr txBox="1"/>
          <p:nvPr/>
        </p:nvSpPr>
        <p:spPr>
          <a:xfrm>
            <a:off x="1097280" y="457200"/>
            <a:ext cx="4572000" cy="457200"/>
          </a:xfrm>
          <a:prstGeom prst="rect">
            <a:avLst/>
          </a:prstGeom>
          <a:noFill/>
        </p:spPr>
        <p:txBody>
          <a:bodyPr wrap="square">
            <a:spAutoFit/>
          </a:bodyPr>
          <a:lstStyle/>
          <a:p>
            <a:pPr algn="l">
              <a:defRPr sz="2000" b="0" i="0">
                <a:solidFill>
                  <a:srgbClr val="8B919C"/>
                </a:solidFill>
                <a:latin typeface="Segoe UI"/>
              </a:defRPr>
            </a:pPr>
            <a:r>
              <a:t>What Makes an Agent</a:t>
            </a:r>
          </a:p>
        </p:txBody>
      </p:sp>
      <p:sp>
        <p:nvSpPr>
          <p:cNvPr id="3" name="Rounded Rectangle 2"/>
          <p:cNvSpPr/>
          <p:nvPr/>
        </p:nvSpPr>
        <p:spPr>
          <a:xfrm>
            <a:off x="746607" y="1828800"/>
            <a:ext cx="2468880" cy="1097280"/>
          </a:xfrm>
          <a:prstGeom prst="roundRect">
            <a:avLst/>
          </a:prstGeom>
          <a:solidFill>
            <a:srgbClr val="151D30"/>
          </a:solidFill>
          <a:ln w="19050">
            <a:solidFill>
              <a:srgbClr val="D4D0C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200" b="1">
                <a:solidFill>
                  <a:srgbClr val="F5F5F0"/>
                </a:solidFill>
                <a:latin typeface="Segoe UI"/>
              </a:defRPr>
            </a:pPr>
            <a:r>
              <a:t>Autonomy</a:t>
            </a:r>
          </a:p>
        </p:txBody>
      </p:sp>
      <p:sp>
        <p:nvSpPr>
          <p:cNvPr id="4" name="TextBox 3"/>
          <p:cNvSpPr txBox="1"/>
          <p:nvPr/>
        </p:nvSpPr>
        <p:spPr>
          <a:xfrm>
            <a:off x="883767" y="3200400"/>
            <a:ext cx="2286000" cy="1645920"/>
          </a:xfrm>
          <a:prstGeom prst="rect">
            <a:avLst/>
          </a:prstGeom>
          <a:noFill/>
        </p:spPr>
        <p:txBody>
          <a:bodyPr wrap="square">
            <a:spAutoFit/>
          </a:bodyPr>
          <a:lstStyle/>
          <a:p>
            <a:pPr algn="ctr">
              <a:defRPr sz="1500" b="0" i="0">
                <a:solidFill>
                  <a:srgbClr val="8B919C"/>
                </a:solidFill>
                <a:latin typeface="Segoe UI"/>
              </a:defRPr>
            </a:pPr>
            <a:r>
              <a:rPr dirty="0"/>
              <a:t>Acts within defined</a:t>
            </a:r>
            <a:br>
              <a:rPr dirty="0"/>
            </a:br>
            <a:r>
              <a:rPr dirty="0"/>
              <a:t>boundaries without</a:t>
            </a:r>
            <a:br>
              <a:rPr dirty="0"/>
            </a:br>
            <a:r>
              <a:rPr dirty="0"/>
              <a:t>prompting</a:t>
            </a:r>
          </a:p>
        </p:txBody>
      </p:sp>
      <p:sp>
        <p:nvSpPr>
          <p:cNvPr id="5" name="Rounded Rectangle 4"/>
          <p:cNvSpPr/>
          <p:nvPr/>
        </p:nvSpPr>
        <p:spPr>
          <a:xfrm>
            <a:off x="3489807" y="1828800"/>
            <a:ext cx="2468880" cy="1097280"/>
          </a:xfrm>
          <a:prstGeom prst="roundRect">
            <a:avLst/>
          </a:prstGeom>
          <a:solidFill>
            <a:srgbClr val="151D30"/>
          </a:solidFill>
          <a:ln w="19050">
            <a:solidFill>
              <a:srgbClr val="D4D0C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200" b="1">
                <a:solidFill>
                  <a:srgbClr val="F5F5F0"/>
                </a:solidFill>
                <a:latin typeface="Segoe UI"/>
              </a:defRPr>
            </a:pPr>
            <a:r>
              <a:rPr dirty="0"/>
              <a:t>Planning</a:t>
            </a:r>
          </a:p>
        </p:txBody>
      </p:sp>
      <p:sp>
        <p:nvSpPr>
          <p:cNvPr id="6" name="TextBox 5"/>
          <p:cNvSpPr txBox="1"/>
          <p:nvPr/>
        </p:nvSpPr>
        <p:spPr>
          <a:xfrm>
            <a:off x="3626967" y="3200400"/>
            <a:ext cx="2286000" cy="1645920"/>
          </a:xfrm>
          <a:prstGeom prst="rect">
            <a:avLst/>
          </a:prstGeom>
          <a:noFill/>
        </p:spPr>
        <p:txBody>
          <a:bodyPr wrap="square">
            <a:spAutoFit/>
          </a:bodyPr>
          <a:lstStyle/>
          <a:p>
            <a:pPr algn="ctr">
              <a:defRPr sz="1500" b="0" i="0">
                <a:solidFill>
                  <a:srgbClr val="8B919C"/>
                </a:solidFill>
                <a:latin typeface="Segoe UI"/>
              </a:defRPr>
            </a:pPr>
            <a:r>
              <a:t>Breaks complex problems</a:t>
            </a:r>
            <a:br/>
            <a:r>
              <a:t>into multi-step</a:t>
            </a:r>
            <a:br/>
            <a:r>
              <a:t>workflows</a:t>
            </a:r>
          </a:p>
        </p:txBody>
      </p:sp>
      <p:sp>
        <p:nvSpPr>
          <p:cNvPr id="7" name="Rounded Rectangle 6"/>
          <p:cNvSpPr/>
          <p:nvPr/>
        </p:nvSpPr>
        <p:spPr>
          <a:xfrm>
            <a:off x="6233007" y="1828800"/>
            <a:ext cx="2468880" cy="1097280"/>
          </a:xfrm>
          <a:prstGeom prst="roundRect">
            <a:avLst/>
          </a:prstGeom>
          <a:solidFill>
            <a:srgbClr val="151D30"/>
          </a:solidFill>
          <a:ln w="19050">
            <a:solidFill>
              <a:srgbClr val="D4D0C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200" b="1">
                <a:solidFill>
                  <a:srgbClr val="F5F5F0"/>
                </a:solidFill>
                <a:latin typeface="Segoe UI"/>
              </a:defRPr>
            </a:pPr>
            <a:r>
              <a:t>Tool Use</a:t>
            </a:r>
          </a:p>
        </p:txBody>
      </p:sp>
      <p:sp>
        <p:nvSpPr>
          <p:cNvPr id="8" name="TextBox 7"/>
          <p:cNvSpPr txBox="1"/>
          <p:nvPr/>
        </p:nvSpPr>
        <p:spPr>
          <a:xfrm>
            <a:off x="6370167" y="3200400"/>
            <a:ext cx="2286000" cy="1645920"/>
          </a:xfrm>
          <a:prstGeom prst="rect">
            <a:avLst/>
          </a:prstGeom>
          <a:noFill/>
        </p:spPr>
        <p:txBody>
          <a:bodyPr wrap="square">
            <a:spAutoFit/>
          </a:bodyPr>
          <a:lstStyle/>
          <a:p>
            <a:pPr algn="ctr">
              <a:defRPr sz="1500" b="0" i="0">
                <a:solidFill>
                  <a:srgbClr val="8B919C"/>
                </a:solidFill>
                <a:latin typeface="Segoe UI"/>
              </a:defRPr>
            </a:pPr>
            <a:r>
              <a:t>Connects to real</a:t>
            </a:r>
            <a:br/>
            <a:r>
              <a:t>systems, APIs,</a:t>
            </a:r>
            <a:br/>
            <a:r>
              <a:t>and databases</a:t>
            </a:r>
          </a:p>
        </p:txBody>
      </p:sp>
      <p:sp>
        <p:nvSpPr>
          <p:cNvPr id="9" name="Rounded Rectangle 8"/>
          <p:cNvSpPr/>
          <p:nvPr/>
        </p:nvSpPr>
        <p:spPr>
          <a:xfrm>
            <a:off x="8976207" y="1828800"/>
            <a:ext cx="2468880" cy="1097280"/>
          </a:xfrm>
          <a:prstGeom prst="roundRect">
            <a:avLst/>
          </a:prstGeom>
          <a:solidFill>
            <a:srgbClr val="151D30"/>
          </a:solidFill>
          <a:ln w="19050">
            <a:solidFill>
              <a:srgbClr val="D4D0C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200" b="1">
                <a:solidFill>
                  <a:srgbClr val="F5F5F0"/>
                </a:solidFill>
                <a:latin typeface="Segoe UI"/>
              </a:defRPr>
            </a:pPr>
            <a:r>
              <a:t>Reflection</a:t>
            </a:r>
          </a:p>
        </p:txBody>
      </p:sp>
      <p:sp>
        <p:nvSpPr>
          <p:cNvPr id="10" name="TextBox 9"/>
          <p:cNvSpPr txBox="1"/>
          <p:nvPr/>
        </p:nvSpPr>
        <p:spPr>
          <a:xfrm>
            <a:off x="9113367" y="3200400"/>
            <a:ext cx="2286000" cy="1645920"/>
          </a:xfrm>
          <a:prstGeom prst="rect">
            <a:avLst/>
          </a:prstGeom>
          <a:noFill/>
        </p:spPr>
        <p:txBody>
          <a:bodyPr wrap="square">
            <a:spAutoFit/>
          </a:bodyPr>
          <a:lstStyle/>
          <a:p>
            <a:pPr algn="ctr">
              <a:defRPr sz="1500" b="0" i="0">
                <a:solidFill>
                  <a:srgbClr val="8B919C"/>
                </a:solidFill>
                <a:latin typeface="Segoe UI"/>
              </a:defRPr>
            </a:pPr>
            <a:r>
              <a:t>Evaluates its own</a:t>
            </a:r>
            <a:br/>
            <a:r>
              <a:t>actions and adjusts</a:t>
            </a:r>
            <a:br/>
            <a:r>
              <a:t>strategy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par>
                                <p:cTn id="24" presetID="10" presetClass="entr" presetSubtype="0" fill="hold"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par>
                                <p:cTn id="32" presetID="10" presetClass="entr" presetSubtype="0" fill="hold"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72A"/>
            </a:gs>
            <a:gs pos="100000">
              <a:srgbClr val="1E1E2E"/>
            </a:gs>
          </a:gsLst>
          <a:lin scaled="0"/>
        </a:gradFill>
        <a:effectLst/>
      </p:bgPr>
    </p:bg>
    <p:spTree>
      <p:nvGrpSpPr>
        <p:cNvPr id="1" name=""/>
        <p:cNvGrpSpPr/>
        <p:nvPr/>
      </p:nvGrpSpPr>
      <p:grpSpPr>
        <a:xfrm>
          <a:off x="0" y="0"/>
          <a:ext cx="0" cy="0"/>
          <a:chOff x="0" y="0"/>
          <a:chExt cx="0" cy="0"/>
        </a:xfrm>
      </p:grpSpPr>
      <p:sp>
        <p:nvSpPr>
          <p:cNvPr id="2" name="Oval 1"/>
          <p:cNvSpPr/>
          <p:nvPr/>
        </p:nvSpPr>
        <p:spPr>
          <a:xfrm>
            <a:off x="1645920" y="1097280"/>
            <a:ext cx="5029200" cy="5029200"/>
          </a:xfrm>
          <a:prstGeom prst="ellipse">
            <a:avLst/>
          </a:prstGeom>
          <a:noFill/>
          <a:ln w="19050">
            <a:solidFill>
              <a:srgbClr val="D4D0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103120" y="2926080"/>
            <a:ext cx="3200400" cy="914400"/>
          </a:xfrm>
          <a:prstGeom prst="rect">
            <a:avLst/>
          </a:prstGeom>
          <a:noFill/>
        </p:spPr>
        <p:txBody>
          <a:bodyPr wrap="square">
            <a:spAutoFit/>
          </a:bodyPr>
          <a:lstStyle/>
          <a:p>
            <a:pPr algn="l">
              <a:defRPr sz="3000" b="1" i="0">
                <a:solidFill>
                  <a:srgbClr val="F5F5F0"/>
                </a:solidFill>
                <a:latin typeface="Segoe UI"/>
              </a:defRPr>
            </a:pPr>
            <a:r>
              <a:t>Digital</a:t>
            </a:r>
            <a:br/>
            <a:r>
              <a:t>Twins</a:t>
            </a:r>
          </a:p>
        </p:txBody>
      </p:sp>
      <p:sp>
        <p:nvSpPr>
          <p:cNvPr id="4" name="TextBox 3"/>
          <p:cNvSpPr txBox="1"/>
          <p:nvPr/>
        </p:nvSpPr>
        <p:spPr>
          <a:xfrm>
            <a:off x="2103120" y="4114800"/>
            <a:ext cx="2926080" cy="830997"/>
          </a:xfrm>
          <a:prstGeom prst="rect">
            <a:avLst/>
          </a:prstGeom>
          <a:noFill/>
        </p:spPr>
        <p:txBody>
          <a:bodyPr wrap="square">
            <a:spAutoFit/>
          </a:bodyPr>
          <a:lstStyle/>
          <a:p>
            <a:pPr algn="l">
              <a:defRPr sz="1600" b="0" i="0">
                <a:solidFill>
                  <a:srgbClr val="8B919C"/>
                </a:solidFill>
                <a:latin typeface="Segoe UI"/>
              </a:defRPr>
            </a:pPr>
            <a:r>
              <a:rPr lang="en-US" dirty="0"/>
              <a:t>D</a:t>
            </a:r>
            <a:r>
              <a:rPr dirty="0"/>
              <a:t>ata</a:t>
            </a:r>
            <a:br>
              <a:rPr dirty="0"/>
            </a:br>
            <a:r>
              <a:rPr lang="en-US" dirty="0"/>
              <a:t>M</a:t>
            </a:r>
            <a:r>
              <a:rPr dirty="0"/>
              <a:t>odels</a:t>
            </a:r>
            <a:br>
              <a:rPr dirty="0"/>
            </a:br>
            <a:r>
              <a:rPr lang="en-US" dirty="0"/>
              <a:t>S</a:t>
            </a:r>
            <a:r>
              <a:rPr dirty="0"/>
              <a:t>imulation</a:t>
            </a:r>
          </a:p>
        </p:txBody>
      </p:sp>
      <p:sp>
        <p:nvSpPr>
          <p:cNvPr id="5" name="Oval 4"/>
          <p:cNvSpPr/>
          <p:nvPr/>
        </p:nvSpPr>
        <p:spPr>
          <a:xfrm>
            <a:off x="5486400" y="1097280"/>
            <a:ext cx="5029200" cy="5029200"/>
          </a:xfrm>
          <a:prstGeom prst="ellipse">
            <a:avLst/>
          </a:prstGeom>
          <a:noFill/>
          <a:ln w="19050">
            <a:solidFill>
              <a:srgbClr val="D4D0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132320" y="2926080"/>
            <a:ext cx="3200400" cy="914400"/>
          </a:xfrm>
          <a:prstGeom prst="rect">
            <a:avLst/>
          </a:prstGeom>
          <a:noFill/>
        </p:spPr>
        <p:txBody>
          <a:bodyPr wrap="square">
            <a:spAutoFit/>
          </a:bodyPr>
          <a:lstStyle/>
          <a:p>
            <a:pPr algn="l">
              <a:defRPr sz="3000" b="1" i="0">
                <a:solidFill>
                  <a:srgbClr val="F5F5F0"/>
                </a:solidFill>
                <a:latin typeface="Segoe UI"/>
              </a:defRPr>
            </a:pPr>
            <a:r>
              <a:t>Agentic</a:t>
            </a:r>
            <a:br/>
            <a:r>
              <a:t>AI</a:t>
            </a:r>
          </a:p>
        </p:txBody>
      </p:sp>
      <p:sp>
        <p:nvSpPr>
          <p:cNvPr id="7" name="TextBox 6"/>
          <p:cNvSpPr txBox="1"/>
          <p:nvPr/>
        </p:nvSpPr>
        <p:spPr>
          <a:xfrm>
            <a:off x="7132320" y="4114800"/>
            <a:ext cx="2926080" cy="830997"/>
          </a:xfrm>
          <a:prstGeom prst="rect">
            <a:avLst/>
          </a:prstGeom>
          <a:noFill/>
        </p:spPr>
        <p:txBody>
          <a:bodyPr wrap="square">
            <a:spAutoFit/>
          </a:bodyPr>
          <a:lstStyle/>
          <a:p>
            <a:pPr algn="l">
              <a:defRPr sz="1600" b="0" i="0">
                <a:solidFill>
                  <a:srgbClr val="8B919C"/>
                </a:solidFill>
                <a:latin typeface="Segoe UI"/>
              </a:defRPr>
            </a:pPr>
            <a:r>
              <a:rPr lang="en-US" dirty="0"/>
              <a:t>R</a:t>
            </a:r>
            <a:r>
              <a:rPr dirty="0"/>
              <a:t>easoning</a:t>
            </a:r>
            <a:br>
              <a:rPr dirty="0"/>
            </a:br>
            <a:r>
              <a:rPr lang="en-US" dirty="0"/>
              <a:t>P</a:t>
            </a:r>
            <a:r>
              <a:rPr dirty="0"/>
              <a:t>lanning</a:t>
            </a:r>
            <a:br>
              <a:rPr dirty="0"/>
            </a:br>
            <a:r>
              <a:rPr lang="en-US" dirty="0"/>
              <a:t>A</a:t>
            </a:r>
            <a:r>
              <a:rPr dirty="0"/>
              <a:t>ction</a:t>
            </a:r>
          </a:p>
        </p:txBody>
      </p:sp>
      <p:sp>
        <p:nvSpPr>
          <p:cNvPr id="8" name="TextBox 7"/>
          <p:cNvSpPr txBox="1"/>
          <p:nvPr/>
        </p:nvSpPr>
        <p:spPr>
          <a:xfrm>
            <a:off x="5029200" y="3017520"/>
            <a:ext cx="2103120" cy="1371600"/>
          </a:xfrm>
          <a:prstGeom prst="rect">
            <a:avLst/>
          </a:prstGeom>
          <a:noFill/>
        </p:spPr>
        <p:txBody>
          <a:bodyPr wrap="square">
            <a:spAutoFit/>
          </a:bodyPr>
          <a:lstStyle/>
          <a:p>
            <a:pPr algn="ctr">
              <a:defRPr sz="5600" b="1" i="0">
                <a:solidFill>
                  <a:srgbClr val="E8E4D9"/>
                </a:solidFill>
                <a:latin typeface="Segoe UI"/>
              </a:defRPr>
            </a:pPr>
            <a: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72A"/>
            </a:gs>
            <a:gs pos="100000">
              <a:srgbClr val="1E1E2E"/>
            </a:gs>
          </a:gsLst>
          <a:lin scaled="0"/>
        </a:gradFill>
        <a:effectLst/>
      </p:bgPr>
    </p:bg>
    <p:spTree>
      <p:nvGrpSpPr>
        <p:cNvPr id="1" name=""/>
        <p:cNvGrpSpPr/>
        <p:nvPr/>
      </p:nvGrpSpPr>
      <p:grpSpPr>
        <a:xfrm>
          <a:off x="0" y="0"/>
          <a:ext cx="0" cy="0"/>
          <a:chOff x="0" y="0"/>
          <a:chExt cx="0" cy="0"/>
        </a:xfrm>
      </p:grpSpPr>
      <p:sp>
        <p:nvSpPr>
          <p:cNvPr id="2" name="TextBox 1"/>
          <p:cNvSpPr txBox="1"/>
          <p:nvPr/>
        </p:nvSpPr>
        <p:spPr>
          <a:xfrm>
            <a:off x="0" y="2286000"/>
            <a:ext cx="12191695" cy="2286000"/>
          </a:xfrm>
          <a:prstGeom prst="rect">
            <a:avLst/>
          </a:prstGeom>
          <a:noFill/>
        </p:spPr>
        <p:txBody>
          <a:bodyPr wrap="square">
            <a:spAutoFit/>
          </a:bodyPr>
          <a:lstStyle/>
          <a:p>
            <a:pPr algn="ctr">
              <a:defRPr sz="5600" b="1" i="0">
                <a:solidFill>
                  <a:srgbClr val="F5F5F0"/>
                </a:solidFill>
                <a:latin typeface="Segoe UI"/>
              </a:defRPr>
            </a:pPr>
            <a:r>
              <a:rPr dirty="0"/>
              <a:t>What if the twin could think?</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72A"/>
            </a:gs>
            <a:gs pos="100000">
              <a:srgbClr val="1E1E2E"/>
            </a:gs>
          </a:gsLst>
          <a:lin scaled="0"/>
        </a:gradFill>
        <a:effectLst/>
      </p:bgPr>
    </p:bg>
    <p:spTree>
      <p:nvGrpSpPr>
        <p:cNvPr id="1" name=""/>
        <p:cNvGrpSpPr/>
        <p:nvPr/>
      </p:nvGrpSpPr>
      <p:grpSpPr>
        <a:xfrm>
          <a:off x="0" y="0"/>
          <a:ext cx="0" cy="0"/>
          <a:chOff x="0" y="0"/>
          <a:chExt cx="0" cy="0"/>
        </a:xfrm>
      </p:grpSpPr>
      <p:sp>
        <p:nvSpPr>
          <p:cNvPr id="2" name="TextBox 1"/>
          <p:cNvSpPr txBox="1"/>
          <p:nvPr/>
        </p:nvSpPr>
        <p:spPr>
          <a:xfrm>
            <a:off x="1097280" y="457200"/>
            <a:ext cx="4572000" cy="457200"/>
          </a:xfrm>
          <a:prstGeom prst="rect">
            <a:avLst/>
          </a:prstGeom>
          <a:noFill/>
        </p:spPr>
        <p:txBody>
          <a:bodyPr wrap="square">
            <a:spAutoFit/>
          </a:bodyPr>
          <a:lstStyle/>
          <a:p>
            <a:pPr algn="l">
              <a:defRPr sz="2000" b="0" i="0">
                <a:solidFill>
                  <a:srgbClr val="8B919C"/>
                </a:solidFill>
                <a:latin typeface="Segoe UI"/>
              </a:defRPr>
            </a:pPr>
            <a:r>
              <a:t>The Agentic Control Loop</a:t>
            </a:r>
          </a:p>
        </p:txBody>
      </p:sp>
      <p:sp>
        <p:nvSpPr>
          <p:cNvPr id="3" name="Rounded Rectangle 2"/>
          <p:cNvSpPr/>
          <p:nvPr/>
        </p:nvSpPr>
        <p:spPr>
          <a:xfrm>
            <a:off x="731520" y="2743200"/>
            <a:ext cx="1828800" cy="1097280"/>
          </a:xfrm>
          <a:prstGeom prst="roundRect">
            <a:avLst/>
          </a:prstGeom>
          <a:solidFill>
            <a:srgbClr val="151D30"/>
          </a:solidFill>
          <a:ln w="19050">
            <a:solidFill>
              <a:srgbClr val="D4D0C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000" b="1">
                <a:solidFill>
                  <a:srgbClr val="F5F5F0"/>
                </a:solidFill>
                <a:latin typeface="Segoe UI"/>
              </a:defRPr>
            </a:pPr>
            <a:r>
              <a:t>Perceive</a:t>
            </a:r>
          </a:p>
        </p:txBody>
      </p:sp>
      <p:sp>
        <p:nvSpPr>
          <p:cNvPr id="4" name="TextBox 3"/>
          <p:cNvSpPr txBox="1"/>
          <p:nvPr/>
        </p:nvSpPr>
        <p:spPr>
          <a:xfrm>
            <a:off x="2606040" y="3017520"/>
            <a:ext cx="365760" cy="548640"/>
          </a:xfrm>
          <a:prstGeom prst="rect">
            <a:avLst/>
          </a:prstGeom>
          <a:noFill/>
        </p:spPr>
        <p:txBody>
          <a:bodyPr wrap="square">
            <a:spAutoFit/>
          </a:bodyPr>
          <a:lstStyle/>
          <a:p>
            <a:pPr algn="ctr">
              <a:defRPr sz="2200" b="0" i="0">
                <a:solidFill>
                  <a:srgbClr val="D4D0C8"/>
                </a:solidFill>
                <a:latin typeface="Segoe UI"/>
              </a:defRPr>
            </a:pPr>
            <a:r>
              <a:t>→</a:t>
            </a:r>
          </a:p>
        </p:txBody>
      </p:sp>
      <p:sp>
        <p:nvSpPr>
          <p:cNvPr id="5" name="Rounded Rectangle 4"/>
          <p:cNvSpPr/>
          <p:nvPr/>
        </p:nvSpPr>
        <p:spPr>
          <a:xfrm>
            <a:off x="3017520" y="2743200"/>
            <a:ext cx="1828800" cy="1097280"/>
          </a:xfrm>
          <a:prstGeom prst="roundRect">
            <a:avLst/>
          </a:prstGeom>
          <a:solidFill>
            <a:srgbClr val="151D30"/>
          </a:solidFill>
          <a:ln w="19050">
            <a:solidFill>
              <a:srgbClr val="D4D0C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000" b="1">
                <a:solidFill>
                  <a:srgbClr val="F5F5F0"/>
                </a:solidFill>
                <a:latin typeface="Segoe UI"/>
              </a:defRPr>
            </a:pPr>
            <a:r>
              <a:t>Reason</a:t>
            </a:r>
          </a:p>
        </p:txBody>
      </p:sp>
      <p:sp>
        <p:nvSpPr>
          <p:cNvPr id="6" name="TextBox 5"/>
          <p:cNvSpPr txBox="1"/>
          <p:nvPr/>
        </p:nvSpPr>
        <p:spPr>
          <a:xfrm>
            <a:off x="4892040" y="3017520"/>
            <a:ext cx="365760" cy="548640"/>
          </a:xfrm>
          <a:prstGeom prst="rect">
            <a:avLst/>
          </a:prstGeom>
          <a:noFill/>
        </p:spPr>
        <p:txBody>
          <a:bodyPr wrap="square">
            <a:spAutoFit/>
          </a:bodyPr>
          <a:lstStyle/>
          <a:p>
            <a:pPr algn="ctr">
              <a:defRPr sz="2200" b="0" i="0">
                <a:solidFill>
                  <a:srgbClr val="D4D0C8"/>
                </a:solidFill>
                <a:latin typeface="Segoe UI"/>
              </a:defRPr>
            </a:pPr>
            <a:r>
              <a:t>→</a:t>
            </a:r>
          </a:p>
        </p:txBody>
      </p:sp>
      <p:sp>
        <p:nvSpPr>
          <p:cNvPr id="7" name="Rounded Rectangle 6"/>
          <p:cNvSpPr/>
          <p:nvPr/>
        </p:nvSpPr>
        <p:spPr>
          <a:xfrm>
            <a:off x="5303520" y="2743200"/>
            <a:ext cx="1828800" cy="1097280"/>
          </a:xfrm>
          <a:prstGeom prst="roundRect">
            <a:avLst/>
          </a:prstGeom>
          <a:solidFill>
            <a:srgbClr val="151D30"/>
          </a:solidFill>
          <a:ln w="19050">
            <a:solidFill>
              <a:srgbClr val="D4D0C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000" b="1">
                <a:solidFill>
                  <a:srgbClr val="F5F5F0"/>
                </a:solidFill>
                <a:latin typeface="Segoe UI"/>
              </a:defRPr>
            </a:pPr>
            <a:r>
              <a:t>Plan</a:t>
            </a:r>
          </a:p>
        </p:txBody>
      </p:sp>
      <p:sp>
        <p:nvSpPr>
          <p:cNvPr id="8" name="TextBox 7"/>
          <p:cNvSpPr txBox="1"/>
          <p:nvPr/>
        </p:nvSpPr>
        <p:spPr>
          <a:xfrm>
            <a:off x="7178040" y="3017520"/>
            <a:ext cx="365760" cy="548640"/>
          </a:xfrm>
          <a:prstGeom prst="rect">
            <a:avLst/>
          </a:prstGeom>
          <a:noFill/>
        </p:spPr>
        <p:txBody>
          <a:bodyPr wrap="square">
            <a:spAutoFit/>
          </a:bodyPr>
          <a:lstStyle/>
          <a:p>
            <a:pPr algn="ctr">
              <a:defRPr sz="2200" b="0" i="0">
                <a:solidFill>
                  <a:srgbClr val="D4D0C8"/>
                </a:solidFill>
                <a:latin typeface="Segoe UI"/>
              </a:defRPr>
            </a:pPr>
            <a:r>
              <a:t>→</a:t>
            </a:r>
          </a:p>
        </p:txBody>
      </p:sp>
      <p:sp>
        <p:nvSpPr>
          <p:cNvPr id="9" name="Rounded Rectangle 8"/>
          <p:cNvSpPr/>
          <p:nvPr/>
        </p:nvSpPr>
        <p:spPr>
          <a:xfrm>
            <a:off x="7589520" y="2743200"/>
            <a:ext cx="1828800" cy="1097280"/>
          </a:xfrm>
          <a:prstGeom prst="roundRect">
            <a:avLst/>
          </a:prstGeom>
          <a:solidFill>
            <a:srgbClr val="151D30"/>
          </a:solidFill>
          <a:ln w="19050">
            <a:solidFill>
              <a:srgbClr val="D4D0C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000" b="1">
                <a:solidFill>
                  <a:srgbClr val="F5F5F0"/>
                </a:solidFill>
                <a:latin typeface="Segoe UI"/>
              </a:defRPr>
            </a:pPr>
            <a:r>
              <a:t>Act</a:t>
            </a:r>
          </a:p>
        </p:txBody>
      </p:sp>
      <p:sp>
        <p:nvSpPr>
          <p:cNvPr id="10" name="TextBox 9"/>
          <p:cNvSpPr txBox="1"/>
          <p:nvPr/>
        </p:nvSpPr>
        <p:spPr>
          <a:xfrm>
            <a:off x="9464040" y="3017520"/>
            <a:ext cx="365760" cy="548640"/>
          </a:xfrm>
          <a:prstGeom prst="rect">
            <a:avLst/>
          </a:prstGeom>
          <a:noFill/>
        </p:spPr>
        <p:txBody>
          <a:bodyPr wrap="square">
            <a:spAutoFit/>
          </a:bodyPr>
          <a:lstStyle/>
          <a:p>
            <a:pPr algn="ctr">
              <a:defRPr sz="2200" b="0" i="0">
                <a:solidFill>
                  <a:srgbClr val="D4D0C8"/>
                </a:solidFill>
                <a:latin typeface="Segoe UI"/>
              </a:defRPr>
            </a:pPr>
            <a:r>
              <a:t>→</a:t>
            </a:r>
          </a:p>
        </p:txBody>
      </p:sp>
      <p:sp>
        <p:nvSpPr>
          <p:cNvPr id="11" name="Rounded Rectangle 10"/>
          <p:cNvSpPr/>
          <p:nvPr/>
        </p:nvSpPr>
        <p:spPr>
          <a:xfrm>
            <a:off x="9875520" y="2743200"/>
            <a:ext cx="1828800" cy="1097280"/>
          </a:xfrm>
          <a:prstGeom prst="roundRect">
            <a:avLst/>
          </a:prstGeom>
          <a:solidFill>
            <a:srgbClr val="151D30"/>
          </a:solidFill>
          <a:ln w="19050">
            <a:solidFill>
              <a:srgbClr val="D4D0C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000" b="1">
                <a:solidFill>
                  <a:srgbClr val="F5F5F0"/>
                </a:solidFill>
                <a:latin typeface="Segoe UI"/>
              </a:defRPr>
            </a:pPr>
            <a:r>
              <a:t>Reflect</a:t>
            </a:r>
          </a:p>
        </p:txBody>
      </p:sp>
      <p:sp>
        <p:nvSpPr>
          <p:cNvPr id="12" name="Rectangle 11"/>
          <p:cNvSpPr/>
          <p:nvPr/>
        </p:nvSpPr>
        <p:spPr>
          <a:xfrm>
            <a:off x="1645920" y="4114800"/>
            <a:ext cx="9144000" cy="13716"/>
          </a:xfrm>
          <a:prstGeom prst="rect">
            <a:avLst/>
          </a:prstGeom>
          <a:solidFill>
            <a:srgbClr val="D4D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10782605" y="3840480"/>
            <a:ext cx="13716" cy="288036"/>
          </a:xfrm>
          <a:prstGeom prst="rect">
            <a:avLst/>
          </a:prstGeom>
          <a:solidFill>
            <a:srgbClr val="D4D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638605" y="3840480"/>
            <a:ext cx="13716" cy="288036"/>
          </a:xfrm>
          <a:prstGeom prst="rect">
            <a:avLst/>
          </a:prstGeom>
          <a:solidFill>
            <a:srgbClr val="D4D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417320" y="3703320"/>
            <a:ext cx="457200" cy="365760"/>
          </a:xfrm>
          <a:prstGeom prst="rect">
            <a:avLst/>
          </a:prstGeom>
          <a:noFill/>
        </p:spPr>
        <p:txBody>
          <a:bodyPr wrap="square">
            <a:spAutoFit/>
          </a:bodyPr>
          <a:lstStyle/>
          <a:p>
            <a:pPr algn="ctr">
              <a:defRPr sz="1400" b="0" i="0">
                <a:solidFill>
                  <a:srgbClr val="D4D0C8"/>
                </a:solidFill>
                <a:latin typeface="Segoe UI"/>
              </a:defRPr>
            </a:pPr>
            <a:r>
              <a:t>▲</a:t>
            </a:r>
          </a:p>
        </p:txBody>
      </p:sp>
      <p:sp>
        <p:nvSpPr>
          <p:cNvPr id="16" name="TextBox 15"/>
          <p:cNvSpPr txBox="1"/>
          <p:nvPr/>
        </p:nvSpPr>
        <p:spPr>
          <a:xfrm>
            <a:off x="4114800" y="4206240"/>
            <a:ext cx="4114800" cy="457200"/>
          </a:xfrm>
          <a:prstGeom prst="rect">
            <a:avLst/>
          </a:prstGeom>
          <a:noFill/>
        </p:spPr>
        <p:txBody>
          <a:bodyPr wrap="square">
            <a:spAutoFit/>
          </a:bodyPr>
          <a:lstStyle/>
          <a:p>
            <a:pPr algn="ctr">
              <a:defRPr sz="1400" b="0" i="0">
                <a:solidFill>
                  <a:srgbClr val="8B919C"/>
                </a:solidFill>
                <a:latin typeface="Segoe UI"/>
              </a:defRPr>
            </a:pPr>
            <a:r>
              <a:t>Continuous feedback</a:t>
            </a:r>
          </a:p>
        </p:txBody>
      </p:sp>
      <p:sp>
        <p:nvSpPr>
          <p:cNvPr id="17" name="TextBox 16"/>
          <p:cNvSpPr txBox="1"/>
          <p:nvPr/>
        </p:nvSpPr>
        <p:spPr>
          <a:xfrm>
            <a:off x="1097280" y="5029200"/>
            <a:ext cx="10058400" cy="914400"/>
          </a:xfrm>
          <a:prstGeom prst="rect">
            <a:avLst/>
          </a:prstGeom>
          <a:noFill/>
        </p:spPr>
        <p:txBody>
          <a:bodyPr wrap="square">
            <a:spAutoFit/>
          </a:bodyPr>
          <a:lstStyle/>
          <a:p>
            <a:pPr algn="l">
              <a:defRPr sz="1800" b="0" i="0">
                <a:solidFill>
                  <a:srgbClr val="E8E4D9"/>
                </a:solidFill>
                <a:latin typeface="Segoe UI"/>
              </a:defRPr>
            </a:pPr>
            <a:r>
              <a:t>Perceive the environment. Reason about causes. Plan a response.</a:t>
            </a:r>
            <a:br/>
            <a:r>
              <a:t>Act through connected systems. Reflect on outcomes.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72A"/>
            </a:gs>
            <a:gs pos="100000">
              <a:srgbClr val="1E1E2E"/>
            </a:gs>
          </a:gsLst>
          <a:lin scaled="0"/>
        </a:gradFill>
        <a:effectLst/>
      </p:bgPr>
    </p:bg>
    <p:spTree>
      <p:nvGrpSpPr>
        <p:cNvPr id="1" name=""/>
        <p:cNvGrpSpPr/>
        <p:nvPr/>
      </p:nvGrpSpPr>
      <p:grpSpPr>
        <a:xfrm>
          <a:off x="0" y="0"/>
          <a:ext cx="0" cy="0"/>
          <a:chOff x="0" y="0"/>
          <a:chExt cx="0" cy="0"/>
        </a:xfrm>
      </p:grpSpPr>
      <p:sp>
        <p:nvSpPr>
          <p:cNvPr id="2" name="Rounded Rectangle 1"/>
          <p:cNvSpPr/>
          <p:nvPr/>
        </p:nvSpPr>
        <p:spPr>
          <a:xfrm>
            <a:off x="2926080" y="1188720"/>
            <a:ext cx="7772400" cy="1188720"/>
          </a:xfrm>
          <a:prstGeom prst="roundRect">
            <a:avLst/>
          </a:prstGeom>
          <a:solidFill>
            <a:srgbClr val="151D30"/>
          </a:solidFill>
          <a:ln w="19050">
            <a:solidFill>
              <a:srgbClr val="D4D0C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800" b="1">
                <a:solidFill>
                  <a:srgbClr val="E8E4D9"/>
                </a:solidFill>
                <a:latin typeface="Segoe UI"/>
              </a:defRPr>
            </a:pPr>
            <a:r>
              <a:t>Cognitive Layer</a:t>
            </a:r>
          </a:p>
        </p:txBody>
      </p:sp>
      <p:sp>
        <p:nvSpPr>
          <p:cNvPr id="3" name="TextBox 2"/>
          <p:cNvSpPr txBox="1"/>
          <p:nvPr/>
        </p:nvSpPr>
        <p:spPr>
          <a:xfrm>
            <a:off x="548640" y="1463040"/>
            <a:ext cx="2194560" cy="640080"/>
          </a:xfrm>
          <a:prstGeom prst="rect">
            <a:avLst/>
          </a:prstGeom>
          <a:noFill/>
        </p:spPr>
        <p:txBody>
          <a:bodyPr wrap="square">
            <a:spAutoFit/>
          </a:bodyPr>
          <a:lstStyle/>
          <a:p>
            <a:pPr algn="r">
              <a:defRPr sz="2200" b="1" i="0">
                <a:solidFill>
                  <a:srgbClr val="E8E4D9"/>
                </a:solidFill>
                <a:latin typeface="Segoe UI"/>
              </a:defRPr>
            </a:pPr>
            <a:r>
              <a:t>The Mind</a:t>
            </a:r>
          </a:p>
        </p:txBody>
      </p:sp>
      <p:sp>
        <p:nvSpPr>
          <p:cNvPr id="4" name="Rounded Rectangle 3"/>
          <p:cNvSpPr/>
          <p:nvPr/>
        </p:nvSpPr>
        <p:spPr>
          <a:xfrm>
            <a:off x="2926080" y="2743200"/>
            <a:ext cx="7772400" cy="1188720"/>
          </a:xfrm>
          <a:prstGeom prst="roundRect">
            <a:avLst/>
          </a:prstGeom>
          <a:solidFill>
            <a:srgbClr val="151D30"/>
          </a:solidFill>
          <a:ln w="19050">
            <a:solidFill>
              <a:srgbClr val="6B728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800" b="1">
                <a:solidFill>
                  <a:srgbClr val="F5F5F0"/>
                </a:solidFill>
                <a:latin typeface="Segoe UI"/>
              </a:defRPr>
            </a:pPr>
            <a:r>
              <a:t>Digital Twin</a:t>
            </a:r>
          </a:p>
        </p:txBody>
      </p:sp>
      <p:sp>
        <p:nvSpPr>
          <p:cNvPr id="5" name="TextBox 4"/>
          <p:cNvSpPr txBox="1"/>
          <p:nvPr/>
        </p:nvSpPr>
        <p:spPr>
          <a:xfrm>
            <a:off x="548640" y="3017520"/>
            <a:ext cx="2194560" cy="640080"/>
          </a:xfrm>
          <a:prstGeom prst="rect">
            <a:avLst/>
          </a:prstGeom>
          <a:noFill/>
        </p:spPr>
        <p:txBody>
          <a:bodyPr wrap="square">
            <a:spAutoFit/>
          </a:bodyPr>
          <a:lstStyle/>
          <a:p>
            <a:pPr algn="r">
              <a:defRPr sz="2200" b="0" i="0">
                <a:solidFill>
                  <a:srgbClr val="8B919C"/>
                </a:solidFill>
                <a:latin typeface="Segoe UI"/>
              </a:defRPr>
            </a:pPr>
            <a:r>
              <a:t>The Mirror</a:t>
            </a:r>
          </a:p>
        </p:txBody>
      </p:sp>
      <p:sp>
        <p:nvSpPr>
          <p:cNvPr id="6" name="Rounded Rectangle 5"/>
          <p:cNvSpPr/>
          <p:nvPr/>
        </p:nvSpPr>
        <p:spPr>
          <a:xfrm>
            <a:off x="2926080" y="4297680"/>
            <a:ext cx="7772400" cy="1188720"/>
          </a:xfrm>
          <a:prstGeom prst="roundRect">
            <a:avLst/>
          </a:prstGeom>
          <a:solidFill>
            <a:srgbClr val="151D30"/>
          </a:solidFill>
          <a:ln w="19050">
            <a:solidFill>
              <a:srgbClr val="6B728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800" b="1">
                <a:solidFill>
                  <a:srgbClr val="F5F5F0"/>
                </a:solidFill>
                <a:latin typeface="Segoe UI"/>
              </a:defRPr>
            </a:pPr>
            <a:r>
              <a:t>Physical System</a:t>
            </a:r>
          </a:p>
        </p:txBody>
      </p:sp>
      <p:sp>
        <p:nvSpPr>
          <p:cNvPr id="7" name="TextBox 6"/>
          <p:cNvSpPr txBox="1"/>
          <p:nvPr/>
        </p:nvSpPr>
        <p:spPr>
          <a:xfrm>
            <a:off x="548640" y="4572000"/>
            <a:ext cx="2194560" cy="640080"/>
          </a:xfrm>
          <a:prstGeom prst="rect">
            <a:avLst/>
          </a:prstGeom>
          <a:noFill/>
        </p:spPr>
        <p:txBody>
          <a:bodyPr wrap="square">
            <a:spAutoFit/>
          </a:bodyPr>
          <a:lstStyle/>
          <a:p>
            <a:pPr algn="r">
              <a:defRPr sz="2200" b="0" i="0">
                <a:solidFill>
                  <a:srgbClr val="8B919C"/>
                </a:solidFill>
                <a:latin typeface="Segoe UI"/>
              </a:defRPr>
            </a:pPr>
            <a:r>
              <a:t>The Real Thing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72A"/>
            </a:gs>
            <a:gs pos="100000">
              <a:srgbClr val="1E1E2E"/>
            </a:gs>
          </a:gsLst>
          <a:lin scaled="0"/>
        </a:gradFill>
        <a:effectLst/>
      </p:bgPr>
    </p:bg>
    <p:spTree>
      <p:nvGrpSpPr>
        <p:cNvPr id="1" name=""/>
        <p:cNvGrpSpPr/>
        <p:nvPr/>
      </p:nvGrpSpPr>
      <p:grpSpPr>
        <a:xfrm>
          <a:off x="0" y="0"/>
          <a:ext cx="0" cy="0"/>
          <a:chOff x="0" y="0"/>
          <a:chExt cx="0" cy="0"/>
        </a:xfrm>
      </p:grpSpPr>
      <p:sp>
        <p:nvSpPr>
          <p:cNvPr id="2" name="TextBox 1"/>
          <p:cNvSpPr txBox="1"/>
          <p:nvPr/>
        </p:nvSpPr>
        <p:spPr>
          <a:xfrm>
            <a:off x="1097280" y="457200"/>
            <a:ext cx="4572000" cy="457200"/>
          </a:xfrm>
          <a:prstGeom prst="rect">
            <a:avLst/>
          </a:prstGeom>
          <a:noFill/>
        </p:spPr>
        <p:txBody>
          <a:bodyPr wrap="square">
            <a:spAutoFit/>
          </a:bodyPr>
          <a:lstStyle/>
          <a:p>
            <a:pPr algn="l">
              <a:defRPr sz="2000" b="0" i="0">
                <a:solidFill>
                  <a:srgbClr val="8B919C"/>
                </a:solidFill>
                <a:latin typeface="Segoe UI"/>
              </a:defRPr>
            </a:pPr>
            <a:r>
              <a:t>The Evidence</a:t>
            </a:r>
          </a:p>
        </p:txBody>
      </p:sp>
      <p:sp>
        <p:nvSpPr>
          <p:cNvPr id="3" name="Rectangle 2"/>
          <p:cNvSpPr/>
          <p:nvPr/>
        </p:nvSpPr>
        <p:spPr>
          <a:xfrm>
            <a:off x="1371600" y="1280160"/>
            <a:ext cx="73152" cy="1280160"/>
          </a:xfrm>
          <a:prstGeom prst="rect">
            <a:avLst/>
          </a:prstGeom>
          <a:solidFill>
            <a:srgbClr val="D4D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28800" y="1280160"/>
            <a:ext cx="8229600" cy="457200"/>
          </a:xfrm>
          <a:prstGeom prst="rect">
            <a:avLst/>
          </a:prstGeom>
          <a:noFill/>
        </p:spPr>
        <p:txBody>
          <a:bodyPr wrap="square">
            <a:spAutoFit/>
          </a:bodyPr>
          <a:lstStyle/>
          <a:p>
            <a:pPr algn="l">
              <a:defRPr sz="2200" b="1" i="0">
                <a:solidFill>
                  <a:srgbClr val="F5F5F0"/>
                </a:solidFill>
                <a:latin typeface="Segoe UI"/>
              </a:defRPr>
            </a:pPr>
            <a:r>
              <a:t>IBM — AAAI 2025</a:t>
            </a:r>
          </a:p>
        </p:txBody>
      </p:sp>
      <p:sp>
        <p:nvSpPr>
          <p:cNvPr id="5" name="TextBox 4"/>
          <p:cNvSpPr txBox="1"/>
          <p:nvPr/>
        </p:nvSpPr>
        <p:spPr>
          <a:xfrm>
            <a:off x="1828800" y="1737360"/>
            <a:ext cx="8229600" cy="914400"/>
          </a:xfrm>
          <a:prstGeom prst="rect">
            <a:avLst/>
          </a:prstGeom>
          <a:noFill/>
        </p:spPr>
        <p:txBody>
          <a:bodyPr wrap="square">
            <a:spAutoFit/>
          </a:bodyPr>
          <a:lstStyle/>
          <a:p>
            <a:pPr algn="l">
              <a:defRPr sz="1600" b="0" i="0">
                <a:solidFill>
                  <a:srgbClr val="8B919C"/>
                </a:solidFill>
                <a:latin typeface="Segoe UI"/>
              </a:defRPr>
            </a:pPr>
            <a:r>
              <a:t>First major academic paper on agentic digital twins.</a:t>
            </a:r>
            <a:br/>
            <a:r>
              <a:t>LLM agents for shipping fleet management —</a:t>
            </a:r>
            <a:br/>
            <a:r>
              <a:t>autonomously plan, execute, reflect.</a:t>
            </a:r>
          </a:p>
        </p:txBody>
      </p:sp>
      <p:sp>
        <p:nvSpPr>
          <p:cNvPr id="6" name="Rectangle 5"/>
          <p:cNvSpPr/>
          <p:nvPr/>
        </p:nvSpPr>
        <p:spPr>
          <a:xfrm>
            <a:off x="1371600" y="3017520"/>
            <a:ext cx="73152" cy="1280160"/>
          </a:xfrm>
          <a:prstGeom prst="rect">
            <a:avLst/>
          </a:prstGeom>
          <a:solidFill>
            <a:srgbClr val="D4D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828800" y="3017520"/>
            <a:ext cx="8229600" cy="457200"/>
          </a:xfrm>
          <a:prstGeom prst="rect">
            <a:avLst/>
          </a:prstGeom>
          <a:noFill/>
        </p:spPr>
        <p:txBody>
          <a:bodyPr wrap="square">
            <a:spAutoFit/>
          </a:bodyPr>
          <a:lstStyle/>
          <a:p>
            <a:pPr algn="l">
              <a:defRPr sz="2200" b="1" i="0">
                <a:solidFill>
                  <a:srgbClr val="F5F5F0"/>
                </a:solidFill>
                <a:latin typeface="Segoe UI"/>
              </a:defRPr>
            </a:pPr>
            <a:r>
              <a:t>XMPro MAGS</a:t>
            </a:r>
          </a:p>
        </p:txBody>
      </p:sp>
      <p:sp>
        <p:nvSpPr>
          <p:cNvPr id="8" name="TextBox 7"/>
          <p:cNvSpPr txBox="1"/>
          <p:nvPr/>
        </p:nvSpPr>
        <p:spPr>
          <a:xfrm>
            <a:off x="1828800" y="3474720"/>
            <a:ext cx="8229600" cy="914400"/>
          </a:xfrm>
          <a:prstGeom prst="rect">
            <a:avLst/>
          </a:prstGeom>
          <a:noFill/>
        </p:spPr>
        <p:txBody>
          <a:bodyPr wrap="square">
            <a:spAutoFit/>
          </a:bodyPr>
          <a:lstStyle/>
          <a:p>
            <a:pPr algn="l">
              <a:defRPr sz="1600" b="0" i="0">
                <a:solidFill>
                  <a:srgbClr val="8B919C"/>
                </a:solidFill>
                <a:latin typeface="Segoe UI"/>
              </a:defRPr>
            </a:pPr>
            <a:r>
              <a:t>Production multi-agent system for manufacturing.</a:t>
            </a:r>
            <a:br/>
            <a:r>
              <a:t>Potential 30–40% reduction in unplanned downtime.</a:t>
            </a:r>
          </a:p>
        </p:txBody>
      </p:sp>
      <p:sp>
        <p:nvSpPr>
          <p:cNvPr id="9" name="Rectangle 8"/>
          <p:cNvSpPr/>
          <p:nvPr/>
        </p:nvSpPr>
        <p:spPr>
          <a:xfrm>
            <a:off x="1371600" y="4754879"/>
            <a:ext cx="73152" cy="1280160"/>
          </a:xfrm>
          <a:prstGeom prst="rect">
            <a:avLst/>
          </a:prstGeom>
          <a:solidFill>
            <a:srgbClr val="D4D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828800" y="4754879"/>
            <a:ext cx="8229600" cy="457200"/>
          </a:xfrm>
          <a:prstGeom prst="rect">
            <a:avLst/>
          </a:prstGeom>
          <a:noFill/>
        </p:spPr>
        <p:txBody>
          <a:bodyPr wrap="square">
            <a:spAutoFit/>
          </a:bodyPr>
          <a:lstStyle/>
          <a:p>
            <a:pPr algn="l">
              <a:defRPr sz="2200" b="1" i="0">
                <a:solidFill>
                  <a:srgbClr val="F5F5F0"/>
                </a:solidFill>
                <a:latin typeface="Segoe UI"/>
              </a:defRPr>
            </a:pPr>
            <a:r>
              <a:t>Nature Computational Science (2026)</a:t>
            </a:r>
          </a:p>
        </p:txBody>
      </p:sp>
      <p:sp>
        <p:nvSpPr>
          <p:cNvPr id="11" name="TextBox 10"/>
          <p:cNvSpPr txBox="1"/>
          <p:nvPr/>
        </p:nvSpPr>
        <p:spPr>
          <a:xfrm>
            <a:off x="1828800" y="5212079"/>
            <a:ext cx="8229600" cy="914400"/>
          </a:xfrm>
          <a:prstGeom prst="rect">
            <a:avLst/>
          </a:prstGeom>
          <a:noFill/>
        </p:spPr>
        <p:txBody>
          <a:bodyPr wrap="square">
            <a:spAutoFit/>
          </a:bodyPr>
          <a:lstStyle/>
          <a:p>
            <a:pPr algn="l">
              <a:defRPr sz="1600" b="0" i="0">
                <a:solidFill>
                  <a:srgbClr val="8B919C"/>
                </a:solidFill>
                <a:latin typeface="Segoe UI"/>
              </a:defRPr>
            </a:pPr>
            <a:r>
              <a:t>Mapped Digital Twin evolution from reactive to agentic,</a:t>
            </a:r>
            <a:br/>
            <a:r>
              <a:t>naming six capability levels: Standalone · Descriptive ·</a:t>
            </a:r>
            <a:br/>
            <a:r>
              <a:t>Diagnostic · Predictive · Prescriptive · Autonomous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72A"/>
            </a:gs>
            <a:gs pos="100000">
              <a:srgbClr val="1E1E2E"/>
            </a:gs>
          </a:gsLst>
          <a:lin scaled="0"/>
        </a:gradFill>
        <a:effectLst/>
      </p:bgPr>
    </p:bg>
    <p:spTree>
      <p:nvGrpSpPr>
        <p:cNvPr id="1" name=""/>
        <p:cNvGrpSpPr/>
        <p:nvPr/>
      </p:nvGrpSpPr>
      <p:grpSpPr>
        <a:xfrm>
          <a:off x="0" y="0"/>
          <a:ext cx="0" cy="0"/>
          <a:chOff x="0" y="0"/>
          <a:chExt cx="0" cy="0"/>
        </a:xfrm>
      </p:grpSpPr>
      <p:sp>
        <p:nvSpPr>
          <p:cNvPr id="2" name="TextBox 1"/>
          <p:cNvSpPr txBox="1"/>
          <p:nvPr/>
        </p:nvSpPr>
        <p:spPr>
          <a:xfrm>
            <a:off x="1097280" y="457200"/>
            <a:ext cx="7315200" cy="457200"/>
          </a:xfrm>
          <a:prstGeom prst="rect">
            <a:avLst/>
          </a:prstGeom>
          <a:noFill/>
        </p:spPr>
        <p:txBody>
          <a:bodyPr wrap="square">
            <a:spAutoFit/>
          </a:bodyPr>
          <a:lstStyle/>
          <a:p>
            <a:pPr algn="l">
              <a:defRPr sz="2000" b="0" i="0">
                <a:solidFill>
                  <a:srgbClr val="8B919C"/>
                </a:solidFill>
                <a:latin typeface="Segoe UI"/>
              </a:defRPr>
            </a:pPr>
            <a:r>
              <a:t>Multi-Agent Systems</a:t>
            </a:r>
          </a:p>
        </p:txBody>
      </p:sp>
      <p:sp>
        <p:nvSpPr>
          <p:cNvPr id="3" name="Rounded Rectangle 2"/>
          <p:cNvSpPr/>
          <p:nvPr/>
        </p:nvSpPr>
        <p:spPr>
          <a:xfrm>
            <a:off x="929487" y="2011680"/>
            <a:ext cx="3200400" cy="1828800"/>
          </a:xfrm>
          <a:prstGeom prst="roundRect">
            <a:avLst/>
          </a:prstGeom>
          <a:solidFill>
            <a:srgbClr val="151D30"/>
          </a:solidFill>
          <a:ln w="19050">
            <a:solidFill>
              <a:srgbClr val="D4D0C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800" b="1">
                <a:solidFill>
                  <a:srgbClr val="F5F5F0"/>
                </a:solidFill>
                <a:latin typeface="Segoe UI"/>
              </a:defRPr>
            </a:pPr>
            <a:r>
              <a:t>Monitor</a:t>
            </a:r>
          </a:p>
        </p:txBody>
      </p:sp>
      <p:sp>
        <p:nvSpPr>
          <p:cNvPr id="4" name="TextBox 3"/>
          <p:cNvSpPr txBox="1"/>
          <p:nvPr/>
        </p:nvSpPr>
        <p:spPr>
          <a:xfrm>
            <a:off x="929487" y="4023360"/>
            <a:ext cx="3200400" cy="548640"/>
          </a:xfrm>
          <a:prstGeom prst="rect">
            <a:avLst/>
          </a:prstGeom>
          <a:noFill/>
        </p:spPr>
        <p:txBody>
          <a:bodyPr wrap="square">
            <a:spAutoFit/>
          </a:bodyPr>
          <a:lstStyle/>
          <a:p>
            <a:pPr algn="ctr">
              <a:defRPr sz="1700" b="0" i="0">
                <a:solidFill>
                  <a:srgbClr val="8B919C"/>
                </a:solidFill>
                <a:latin typeface="Segoe UI"/>
              </a:defRPr>
            </a:pPr>
            <a:r>
              <a:t>Detects anomalies</a:t>
            </a:r>
          </a:p>
        </p:txBody>
      </p:sp>
      <p:sp>
        <p:nvSpPr>
          <p:cNvPr id="5" name="TextBox 4"/>
          <p:cNvSpPr txBox="1"/>
          <p:nvPr/>
        </p:nvSpPr>
        <p:spPr>
          <a:xfrm>
            <a:off x="4129887" y="2560320"/>
            <a:ext cx="365760" cy="731520"/>
          </a:xfrm>
          <a:prstGeom prst="rect">
            <a:avLst/>
          </a:prstGeom>
          <a:noFill/>
        </p:spPr>
        <p:txBody>
          <a:bodyPr wrap="square">
            <a:spAutoFit/>
          </a:bodyPr>
          <a:lstStyle/>
          <a:p>
            <a:pPr algn="ctr">
              <a:defRPr sz="2800" b="0" i="0">
                <a:solidFill>
                  <a:srgbClr val="D4D0C8"/>
                </a:solidFill>
                <a:latin typeface="Segoe UI"/>
              </a:defRPr>
            </a:pPr>
            <a:r>
              <a:t>→</a:t>
            </a:r>
          </a:p>
        </p:txBody>
      </p:sp>
      <p:sp>
        <p:nvSpPr>
          <p:cNvPr id="6" name="Rounded Rectangle 5"/>
          <p:cNvSpPr/>
          <p:nvPr/>
        </p:nvSpPr>
        <p:spPr>
          <a:xfrm>
            <a:off x="4495647" y="2011680"/>
            <a:ext cx="3200400" cy="1828800"/>
          </a:xfrm>
          <a:prstGeom prst="roundRect">
            <a:avLst/>
          </a:prstGeom>
          <a:solidFill>
            <a:srgbClr val="151D30"/>
          </a:solidFill>
          <a:ln w="19050">
            <a:solidFill>
              <a:srgbClr val="D4D0C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800" b="1">
                <a:solidFill>
                  <a:srgbClr val="F5F5F0"/>
                </a:solidFill>
                <a:latin typeface="Segoe UI"/>
              </a:defRPr>
            </a:pPr>
            <a:r>
              <a:t>Analyst</a:t>
            </a:r>
          </a:p>
        </p:txBody>
      </p:sp>
      <p:sp>
        <p:nvSpPr>
          <p:cNvPr id="7" name="TextBox 6"/>
          <p:cNvSpPr txBox="1"/>
          <p:nvPr/>
        </p:nvSpPr>
        <p:spPr>
          <a:xfrm>
            <a:off x="4495647" y="4023360"/>
            <a:ext cx="3200400" cy="548640"/>
          </a:xfrm>
          <a:prstGeom prst="rect">
            <a:avLst/>
          </a:prstGeom>
          <a:noFill/>
        </p:spPr>
        <p:txBody>
          <a:bodyPr wrap="square">
            <a:spAutoFit/>
          </a:bodyPr>
          <a:lstStyle/>
          <a:p>
            <a:pPr algn="ctr">
              <a:defRPr sz="1700" b="0" i="0">
                <a:solidFill>
                  <a:srgbClr val="8B919C"/>
                </a:solidFill>
                <a:latin typeface="Segoe UI"/>
              </a:defRPr>
            </a:pPr>
            <a:r>
              <a:t>Finds root causes</a:t>
            </a:r>
          </a:p>
        </p:txBody>
      </p:sp>
      <p:sp>
        <p:nvSpPr>
          <p:cNvPr id="8" name="TextBox 7"/>
          <p:cNvSpPr txBox="1"/>
          <p:nvPr/>
        </p:nvSpPr>
        <p:spPr>
          <a:xfrm>
            <a:off x="7696047" y="2560320"/>
            <a:ext cx="365760" cy="731520"/>
          </a:xfrm>
          <a:prstGeom prst="rect">
            <a:avLst/>
          </a:prstGeom>
          <a:noFill/>
        </p:spPr>
        <p:txBody>
          <a:bodyPr wrap="square">
            <a:spAutoFit/>
          </a:bodyPr>
          <a:lstStyle/>
          <a:p>
            <a:pPr algn="ctr">
              <a:defRPr sz="2800" b="0" i="0">
                <a:solidFill>
                  <a:srgbClr val="D4D0C8"/>
                </a:solidFill>
                <a:latin typeface="Segoe UI"/>
              </a:defRPr>
            </a:pPr>
            <a:r>
              <a:t>→</a:t>
            </a:r>
          </a:p>
        </p:txBody>
      </p:sp>
      <p:sp>
        <p:nvSpPr>
          <p:cNvPr id="9" name="Rounded Rectangle 8"/>
          <p:cNvSpPr/>
          <p:nvPr/>
        </p:nvSpPr>
        <p:spPr>
          <a:xfrm>
            <a:off x="8061807" y="2011680"/>
            <a:ext cx="3200400" cy="1828800"/>
          </a:xfrm>
          <a:prstGeom prst="roundRect">
            <a:avLst/>
          </a:prstGeom>
          <a:solidFill>
            <a:srgbClr val="151D30"/>
          </a:solidFill>
          <a:ln w="19050">
            <a:solidFill>
              <a:srgbClr val="D4D0C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800" b="1">
                <a:solidFill>
                  <a:srgbClr val="F5F5F0"/>
                </a:solidFill>
                <a:latin typeface="Segoe UI"/>
              </a:defRPr>
            </a:pPr>
            <a:r>
              <a:t>Planner</a:t>
            </a:r>
          </a:p>
        </p:txBody>
      </p:sp>
      <p:sp>
        <p:nvSpPr>
          <p:cNvPr id="10" name="TextBox 9"/>
          <p:cNvSpPr txBox="1"/>
          <p:nvPr/>
        </p:nvSpPr>
        <p:spPr>
          <a:xfrm>
            <a:off x="8061807" y="4023360"/>
            <a:ext cx="3200400" cy="548640"/>
          </a:xfrm>
          <a:prstGeom prst="rect">
            <a:avLst/>
          </a:prstGeom>
          <a:noFill/>
        </p:spPr>
        <p:txBody>
          <a:bodyPr wrap="square">
            <a:spAutoFit/>
          </a:bodyPr>
          <a:lstStyle/>
          <a:p>
            <a:pPr algn="ctr">
              <a:defRPr sz="1700" b="0" i="0">
                <a:solidFill>
                  <a:srgbClr val="8B919C"/>
                </a:solidFill>
                <a:latin typeface="Segoe UI"/>
              </a:defRPr>
            </a:pPr>
            <a:r>
              <a:t>Schedules responses</a:t>
            </a:r>
          </a:p>
        </p:txBody>
      </p:sp>
      <p:sp>
        <p:nvSpPr>
          <p:cNvPr id="11" name="TextBox 10"/>
          <p:cNvSpPr txBox="1"/>
          <p:nvPr/>
        </p:nvSpPr>
        <p:spPr>
          <a:xfrm>
            <a:off x="1097280" y="5120640"/>
            <a:ext cx="10058400" cy="914400"/>
          </a:xfrm>
          <a:prstGeom prst="rect">
            <a:avLst/>
          </a:prstGeom>
          <a:noFill/>
        </p:spPr>
        <p:txBody>
          <a:bodyPr wrap="square">
            <a:spAutoFit/>
          </a:bodyPr>
          <a:lstStyle/>
          <a:p>
            <a:pPr algn="l">
              <a:defRPr sz="1800" b="0" i="0">
                <a:solidFill>
                  <a:srgbClr val="E8E4D9"/>
                </a:solidFill>
                <a:latin typeface="Segoe UI"/>
              </a:defRPr>
            </a:pPr>
            <a:r>
              <a:t>Specialized agents. Collaborate and check each other's work.</a:t>
            </a:r>
            <a:br/>
            <a:r>
              <a:t>The agent that proposes is never the one that approves.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72A"/>
            </a:gs>
            <a:gs pos="100000">
              <a:srgbClr val="1E1E2E"/>
            </a:gs>
          </a:gsLst>
          <a:lin scaled="0"/>
        </a:gradFill>
        <a:effectLst/>
      </p:bgPr>
    </p:bg>
    <p:spTree>
      <p:nvGrpSpPr>
        <p:cNvPr id="1" name=""/>
        <p:cNvGrpSpPr/>
        <p:nvPr/>
      </p:nvGrpSpPr>
      <p:grpSpPr>
        <a:xfrm>
          <a:off x="0" y="0"/>
          <a:ext cx="0" cy="0"/>
          <a:chOff x="0" y="0"/>
          <a:chExt cx="0" cy="0"/>
        </a:xfrm>
      </p:grpSpPr>
      <p:sp>
        <p:nvSpPr>
          <p:cNvPr id="2" name="TextBox 1"/>
          <p:cNvSpPr txBox="1"/>
          <p:nvPr/>
        </p:nvSpPr>
        <p:spPr>
          <a:xfrm>
            <a:off x="1097280" y="457200"/>
            <a:ext cx="7315200" cy="457200"/>
          </a:xfrm>
          <a:prstGeom prst="rect">
            <a:avLst/>
          </a:prstGeom>
          <a:noFill/>
        </p:spPr>
        <p:txBody>
          <a:bodyPr wrap="square">
            <a:spAutoFit/>
          </a:bodyPr>
          <a:lstStyle/>
          <a:p>
            <a:pPr algn="l">
              <a:defRPr sz="2000" b="0" i="0">
                <a:solidFill>
                  <a:srgbClr val="8B919C"/>
                </a:solidFill>
                <a:latin typeface="Segoe UI"/>
              </a:defRPr>
            </a:pPr>
            <a:r>
              <a:t>One Pattern, Every System</a:t>
            </a:r>
          </a:p>
        </p:txBody>
      </p:sp>
      <p:sp>
        <p:nvSpPr>
          <p:cNvPr id="3" name="Rounded Rectangle 2"/>
          <p:cNvSpPr/>
          <p:nvPr/>
        </p:nvSpPr>
        <p:spPr>
          <a:xfrm>
            <a:off x="838047" y="1645920"/>
            <a:ext cx="3291840" cy="1188720"/>
          </a:xfrm>
          <a:prstGeom prst="roundRect">
            <a:avLst/>
          </a:prstGeom>
          <a:solidFill>
            <a:srgbClr val="151D30"/>
          </a:solidFill>
          <a:ln w="19050">
            <a:solidFill>
              <a:srgbClr val="D4D0C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400" b="1">
                <a:solidFill>
                  <a:srgbClr val="F5F5F0"/>
                </a:solidFill>
                <a:latin typeface="Segoe UI"/>
              </a:defRPr>
            </a:pPr>
            <a:r>
              <a:t>Edge AI Device</a:t>
            </a:r>
          </a:p>
        </p:txBody>
      </p:sp>
      <p:sp>
        <p:nvSpPr>
          <p:cNvPr id="4" name="TextBox 3"/>
          <p:cNvSpPr txBox="1"/>
          <p:nvPr/>
        </p:nvSpPr>
        <p:spPr>
          <a:xfrm>
            <a:off x="1112367" y="3108960"/>
            <a:ext cx="2743200" cy="1828800"/>
          </a:xfrm>
          <a:prstGeom prst="rect">
            <a:avLst/>
          </a:prstGeom>
          <a:noFill/>
        </p:spPr>
        <p:txBody>
          <a:bodyPr wrap="square">
            <a:spAutoFit/>
          </a:bodyPr>
          <a:lstStyle/>
          <a:p>
            <a:pPr algn="l">
              <a:defRPr sz="1800" b="0" i="0">
                <a:solidFill>
                  <a:srgbClr val="8B919C"/>
                </a:solidFill>
                <a:latin typeface="Segoe UI"/>
              </a:defRPr>
            </a:pPr>
            <a:r>
              <a:t>Model drift</a:t>
            </a:r>
            <a:br/>
            <a:r>
              <a:t>→ Diagnose</a:t>
            </a:r>
            <a:br/>
            <a:r>
              <a:t>→ Retrain</a:t>
            </a:r>
          </a:p>
        </p:txBody>
      </p:sp>
      <p:sp>
        <p:nvSpPr>
          <p:cNvPr id="5" name="Rounded Rectangle 4"/>
          <p:cNvSpPr/>
          <p:nvPr/>
        </p:nvSpPr>
        <p:spPr>
          <a:xfrm>
            <a:off x="4449927" y="1645920"/>
            <a:ext cx="3291840" cy="1188720"/>
          </a:xfrm>
          <a:prstGeom prst="roundRect">
            <a:avLst/>
          </a:prstGeom>
          <a:solidFill>
            <a:srgbClr val="151D30"/>
          </a:solidFill>
          <a:ln w="19050">
            <a:solidFill>
              <a:srgbClr val="D4D0C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400" b="1">
                <a:solidFill>
                  <a:srgbClr val="F5F5F0"/>
                </a:solidFill>
                <a:latin typeface="Segoe UI"/>
              </a:defRPr>
            </a:pPr>
            <a:r>
              <a:t>Robotic Arm</a:t>
            </a:r>
          </a:p>
        </p:txBody>
      </p:sp>
      <p:sp>
        <p:nvSpPr>
          <p:cNvPr id="6" name="TextBox 5"/>
          <p:cNvSpPr txBox="1"/>
          <p:nvPr/>
        </p:nvSpPr>
        <p:spPr>
          <a:xfrm>
            <a:off x="4724247" y="3108960"/>
            <a:ext cx="2743200" cy="1828800"/>
          </a:xfrm>
          <a:prstGeom prst="rect">
            <a:avLst/>
          </a:prstGeom>
          <a:noFill/>
        </p:spPr>
        <p:txBody>
          <a:bodyPr wrap="square">
            <a:spAutoFit/>
          </a:bodyPr>
          <a:lstStyle/>
          <a:p>
            <a:pPr algn="l">
              <a:defRPr sz="1800" b="0" i="0">
                <a:solidFill>
                  <a:srgbClr val="8B919C"/>
                </a:solidFill>
                <a:latin typeface="Segoe UI"/>
              </a:defRPr>
            </a:pPr>
            <a:r>
              <a:t>Bearing wear</a:t>
            </a:r>
            <a:br/>
            <a:r>
              <a:t>→ Predict</a:t>
            </a:r>
            <a:br/>
            <a:r>
              <a:t>→ Schedule</a:t>
            </a:r>
          </a:p>
        </p:txBody>
      </p:sp>
      <p:sp>
        <p:nvSpPr>
          <p:cNvPr id="7" name="Rounded Rectangle 6"/>
          <p:cNvSpPr/>
          <p:nvPr/>
        </p:nvSpPr>
        <p:spPr>
          <a:xfrm>
            <a:off x="8061807" y="1645920"/>
            <a:ext cx="3291840" cy="1188720"/>
          </a:xfrm>
          <a:prstGeom prst="roundRect">
            <a:avLst/>
          </a:prstGeom>
          <a:solidFill>
            <a:srgbClr val="151D30"/>
          </a:solidFill>
          <a:ln w="19050">
            <a:solidFill>
              <a:srgbClr val="D4D0C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400" b="1">
                <a:solidFill>
                  <a:srgbClr val="F5F5F0"/>
                </a:solidFill>
                <a:latin typeface="Segoe UI"/>
              </a:defRPr>
            </a:pPr>
            <a:r>
              <a:t>ADAS Sensor Suite</a:t>
            </a:r>
          </a:p>
        </p:txBody>
      </p:sp>
      <p:sp>
        <p:nvSpPr>
          <p:cNvPr id="8" name="TextBox 7"/>
          <p:cNvSpPr txBox="1"/>
          <p:nvPr/>
        </p:nvSpPr>
        <p:spPr>
          <a:xfrm>
            <a:off x="8336127" y="3108960"/>
            <a:ext cx="2743200" cy="1828800"/>
          </a:xfrm>
          <a:prstGeom prst="rect">
            <a:avLst/>
          </a:prstGeom>
          <a:noFill/>
        </p:spPr>
        <p:txBody>
          <a:bodyPr wrap="square">
            <a:spAutoFit/>
          </a:bodyPr>
          <a:lstStyle/>
          <a:p>
            <a:pPr algn="l">
              <a:defRPr sz="1800" b="0" i="0">
                <a:solidFill>
                  <a:srgbClr val="8B919C"/>
                </a:solidFill>
                <a:latin typeface="Segoe UI"/>
              </a:defRPr>
            </a:pPr>
            <a:r>
              <a:t>Sensor fusion</a:t>
            </a:r>
            <a:br/>
            <a:r>
              <a:t>→ Safety</a:t>
            </a:r>
            <a:br/>
            <a:r>
              <a:t>→ Adapt</a:t>
            </a:r>
          </a:p>
        </p:txBody>
      </p:sp>
      <p:sp>
        <p:nvSpPr>
          <p:cNvPr id="9" name="TextBox 8"/>
          <p:cNvSpPr txBox="1"/>
          <p:nvPr/>
        </p:nvSpPr>
        <p:spPr>
          <a:xfrm>
            <a:off x="914400" y="5303520"/>
            <a:ext cx="10058400" cy="914400"/>
          </a:xfrm>
          <a:prstGeom prst="rect">
            <a:avLst/>
          </a:prstGeom>
          <a:noFill/>
        </p:spPr>
        <p:txBody>
          <a:bodyPr wrap="square">
            <a:spAutoFit/>
          </a:bodyPr>
          <a:lstStyle/>
          <a:p>
            <a:pPr algn="l">
              <a:defRPr sz="2200" b="1" i="0">
                <a:solidFill>
                  <a:srgbClr val="E8E4D9"/>
                </a:solidFill>
                <a:latin typeface="Segoe UI"/>
              </a:defRPr>
            </a:pPr>
            <a:r>
              <a:t>Same loop. Same architecture. Different worlds.</a:t>
            </a:r>
            <a:br/>
            <a:r>
              <a:t>The pattern is universal.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72A"/>
            </a:gs>
            <a:gs pos="100000">
              <a:srgbClr val="1E1E2E"/>
            </a:gs>
          </a:gsLst>
          <a:lin scaled="0"/>
        </a:gradFill>
        <a:effectLst/>
      </p:bgPr>
    </p:bg>
    <p:spTree>
      <p:nvGrpSpPr>
        <p:cNvPr id="1" name=""/>
        <p:cNvGrpSpPr/>
        <p:nvPr/>
      </p:nvGrpSpPr>
      <p:grpSpPr>
        <a:xfrm>
          <a:off x="0" y="0"/>
          <a:ext cx="0" cy="0"/>
          <a:chOff x="0" y="0"/>
          <a:chExt cx="0" cy="0"/>
        </a:xfrm>
      </p:grpSpPr>
      <p:sp>
        <p:nvSpPr>
          <p:cNvPr id="2" name="TextBox 1"/>
          <p:cNvSpPr txBox="1"/>
          <p:nvPr/>
        </p:nvSpPr>
        <p:spPr>
          <a:xfrm>
            <a:off x="1097280" y="457200"/>
            <a:ext cx="4572000" cy="457200"/>
          </a:xfrm>
          <a:prstGeom prst="rect">
            <a:avLst/>
          </a:prstGeom>
          <a:noFill/>
        </p:spPr>
        <p:txBody>
          <a:bodyPr wrap="square">
            <a:spAutoFit/>
          </a:bodyPr>
          <a:lstStyle/>
          <a:p>
            <a:pPr algn="l">
              <a:defRPr sz="2000" b="0" i="0">
                <a:solidFill>
                  <a:srgbClr val="8B919C"/>
                </a:solidFill>
                <a:latin typeface="Segoe UI"/>
              </a:defRPr>
            </a:pPr>
            <a:r>
              <a:t>Let's Be Honest</a:t>
            </a:r>
          </a:p>
        </p:txBody>
      </p:sp>
      <p:sp>
        <p:nvSpPr>
          <p:cNvPr id="3" name="Rectangle 2"/>
          <p:cNvSpPr/>
          <p:nvPr/>
        </p:nvSpPr>
        <p:spPr>
          <a:xfrm>
            <a:off x="1371600" y="1325880"/>
            <a:ext cx="73152" cy="731520"/>
          </a:xfrm>
          <a:prstGeom prst="rect">
            <a:avLst/>
          </a:prstGeom>
          <a:solidFill>
            <a:srgbClr val="D4D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28800" y="1280160"/>
            <a:ext cx="3657600" cy="457200"/>
          </a:xfrm>
          <a:prstGeom prst="rect">
            <a:avLst/>
          </a:prstGeom>
          <a:noFill/>
        </p:spPr>
        <p:txBody>
          <a:bodyPr wrap="square">
            <a:spAutoFit/>
          </a:bodyPr>
          <a:lstStyle/>
          <a:p>
            <a:pPr algn="l">
              <a:defRPr sz="2200" b="1" i="0">
                <a:solidFill>
                  <a:srgbClr val="F5F5F0"/>
                </a:solidFill>
                <a:latin typeface="Segoe UI"/>
              </a:defRPr>
            </a:pPr>
            <a:r>
              <a:t>Accountability</a:t>
            </a:r>
          </a:p>
        </p:txBody>
      </p:sp>
      <p:sp>
        <p:nvSpPr>
          <p:cNvPr id="5" name="TextBox 4"/>
          <p:cNvSpPr txBox="1"/>
          <p:nvPr/>
        </p:nvSpPr>
        <p:spPr>
          <a:xfrm>
            <a:off x="1828800" y="1691640"/>
            <a:ext cx="8229600" cy="457200"/>
          </a:xfrm>
          <a:prstGeom prst="rect">
            <a:avLst/>
          </a:prstGeom>
          <a:noFill/>
        </p:spPr>
        <p:txBody>
          <a:bodyPr wrap="square">
            <a:spAutoFit/>
          </a:bodyPr>
          <a:lstStyle/>
          <a:p>
            <a:pPr algn="l">
              <a:defRPr sz="1700" b="0" i="0">
                <a:solidFill>
                  <a:srgbClr val="8B919C"/>
                </a:solidFill>
                <a:latin typeface="Segoe UI"/>
              </a:defRPr>
            </a:pPr>
            <a:r>
              <a:t>When the agent decides wrong, who owns it?</a:t>
            </a:r>
          </a:p>
        </p:txBody>
      </p:sp>
      <p:sp>
        <p:nvSpPr>
          <p:cNvPr id="6" name="Rectangle 5"/>
          <p:cNvSpPr/>
          <p:nvPr/>
        </p:nvSpPr>
        <p:spPr>
          <a:xfrm>
            <a:off x="1371600" y="2514600"/>
            <a:ext cx="73152" cy="731520"/>
          </a:xfrm>
          <a:prstGeom prst="rect">
            <a:avLst/>
          </a:prstGeom>
          <a:solidFill>
            <a:srgbClr val="D4D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828800" y="2468880"/>
            <a:ext cx="3657600" cy="457200"/>
          </a:xfrm>
          <a:prstGeom prst="rect">
            <a:avLst/>
          </a:prstGeom>
          <a:noFill/>
        </p:spPr>
        <p:txBody>
          <a:bodyPr wrap="square">
            <a:spAutoFit/>
          </a:bodyPr>
          <a:lstStyle/>
          <a:p>
            <a:pPr algn="l">
              <a:defRPr sz="2200" b="1" i="0">
                <a:solidFill>
                  <a:srgbClr val="F5F5F0"/>
                </a:solidFill>
                <a:latin typeface="Segoe UI"/>
              </a:defRPr>
            </a:pPr>
            <a:r>
              <a:t>Explainability</a:t>
            </a:r>
          </a:p>
        </p:txBody>
      </p:sp>
      <p:sp>
        <p:nvSpPr>
          <p:cNvPr id="8" name="TextBox 7"/>
          <p:cNvSpPr txBox="1"/>
          <p:nvPr/>
        </p:nvSpPr>
        <p:spPr>
          <a:xfrm>
            <a:off x="1828800" y="2880360"/>
            <a:ext cx="8229600" cy="457200"/>
          </a:xfrm>
          <a:prstGeom prst="rect">
            <a:avLst/>
          </a:prstGeom>
          <a:noFill/>
        </p:spPr>
        <p:txBody>
          <a:bodyPr wrap="square">
            <a:spAutoFit/>
          </a:bodyPr>
          <a:lstStyle/>
          <a:p>
            <a:pPr algn="l">
              <a:defRPr sz="1700" b="0" i="0">
                <a:solidFill>
                  <a:srgbClr val="8B919C"/>
                </a:solidFill>
                <a:latin typeface="Segoe UI"/>
              </a:defRPr>
            </a:pPr>
            <a:r>
              <a:t>Can you trace why it made that call?</a:t>
            </a:r>
          </a:p>
        </p:txBody>
      </p:sp>
      <p:sp>
        <p:nvSpPr>
          <p:cNvPr id="9" name="Rectangle 8"/>
          <p:cNvSpPr/>
          <p:nvPr/>
        </p:nvSpPr>
        <p:spPr>
          <a:xfrm>
            <a:off x="1371600" y="3703320"/>
            <a:ext cx="73152" cy="731520"/>
          </a:xfrm>
          <a:prstGeom prst="rect">
            <a:avLst/>
          </a:prstGeom>
          <a:solidFill>
            <a:srgbClr val="D4D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828800" y="3657600"/>
            <a:ext cx="3657600" cy="457200"/>
          </a:xfrm>
          <a:prstGeom prst="rect">
            <a:avLst/>
          </a:prstGeom>
          <a:noFill/>
        </p:spPr>
        <p:txBody>
          <a:bodyPr wrap="square">
            <a:spAutoFit/>
          </a:bodyPr>
          <a:lstStyle/>
          <a:p>
            <a:pPr algn="l">
              <a:defRPr sz="2200" b="1" i="0">
                <a:solidFill>
                  <a:srgbClr val="F5F5F0"/>
                </a:solidFill>
                <a:latin typeface="Segoe UI"/>
              </a:defRPr>
            </a:pPr>
            <a:r>
              <a:t>Security</a:t>
            </a:r>
          </a:p>
        </p:txBody>
      </p:sp>
      <p:sp>
        <p:nvSpPr>
          <p:cNvPr id="11" name="TextBox 10"/>
          <p:cNvSpPr txBox="1"/>
          <p:nvPr/>
        </p:nvSpPr>
        <p:spPr>
          <a:xfrm>
            <a:off x="1828800" y="4069080"/>
            <a:ext cx="8229600" cy="353943"/>
          </a:xfrm>
          <a:prstGeom prst="rect">
            <a:avLst/>
          </a:prstGeom>
          <a:noFill/>
        </p:spPr>
        <p:txBody>
          <a:bodyPr wrap="square">
            <a:spAutoFit/>
          </a:bodyPr>
          <a:lstStyle/>
          <a:p>
            <a:pPr algn="l">
              <a:defRPr sz="1700" b="0" i="0">
                <a:solidFill>
                  <a:srgbClr val="8B919C"/>
                </a:solidFill>
                <a:latin typeface="Segoe UI"/>
              </a:defRPr>
            </a:pPr>
            <a:r>
              <a:rPr dirty="0"/>
              <a:t>New attack surfaces </a:t>
            </a:r>
            <a:r>
              <a:rPr lang="en-US" dirty="0"/>
              <a:t>that </a:t>
            </a:r>
            <a:r>
              <a:rPr dirty="0"/>
              <a:t>we haven't fully mapped</a:t>
            </a:r>
          </a:p>
        </p:txBody>
      </p:sp>
      <p:sp>
        <p:nvSpPr>
          <p:cNvPr id="12" name="Rectangle 11"/>
          <p:cNvSpPr/>
          <p:nvPr/>
        </p:nvSpPr>
        <p:spPr>
          <a:xfrm>
            <a:off x="1371600" y="4892040"/>
            <a:ext cx="73152" cy="731520"/>
          </a:xfrm>
          <a:prstGeom prst="rect">
            <a:avLst/>
          </a:prstGeom>
          <a:solidFill>
            <a:srgbClr val="D4D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828800" y="4846320"/>
            <a:ext cx="3657600" cy="457200"/>
          </a:xfrm>
          <a:prstGeom prst="rect">
            <a:avLst/>
          </a:prstGeom>
          <a:noFill/>
        </p:spPr>
        <p:txBody>
          <a:bodyPr wrap="square">
            <a:spAutoFit/>
          </a:bodyPr>
          <a:lstStyle/>
          <a:p>
            <a:pPr algn="l">
              <a:defRPr sz="2200" b="1" i="0">
                <a:solidFill>
                  <a:srgbClr val="F5F5F0"/>
                </a:solidFill>
                <a:latin typeface="Segoe UI"/>
              </a:defRPr>
            </a:pPr>
            <a:r>
              <a:t>Governance</a:t>
            </a:r>
          </a:p>
        </p:txBody>
      </p:sp>
      <p:sp>
        <p:nvSpPr>
          <p:cNvPr id="14" name="TextBox 13"/>
          <p:cNvSpPr txBox="1"/>
          <p:nvPr/>
        </p:nvSpPr>
        <p:spPr>
          <a:xfrm>
            <a:off x="1828800" y="5257800"/>
            <a:ext cx="8229600" cy="353943"/>
          </a:xfrm>
          <a:prstGeom prst="rect">
            <a:avLst/>
          </a:prstGeom>
          <a:noFill/>
        </p:spPr>
        <p:txBody>
          <a:bodyPr wrap="square">
            <a:spAutoFit/>
          </a:bodyPr>
          <a:lstStyle/>
          <a:p>
            <a:pPr algn="l">
              <a:defRPr sz="1700" b="0" i="0">
                <a:solidFill>
                  <a:srgbClr val="8B919C"/>
                </a:solidFill>
                <a:latin typeface="Segoe UI"/>
              </a:defRPr>
            </a:pPr>
            <a:r>
              <a:rPr dirty="0"/>
              <a:t>Our frameworks weren't built for autonomous agents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72A"/>
            </a:gs>
            <a:gs pos="100000">
              <a:srgbClr val="1E1E2E"/>
            </a:gs>
          </a:gsLst>
          <a:lin scaled="0"/>
        </a:gradFill>
        <a:effectLst/>
      </p:bgPr>
    </p:bg>
    <p:spTree>
      <p:nvGrpSpPr>
        <p:cNvPr id="1" name=""/>
        <p:cNvGrpSpPr/>
        <p:nvPr/>
      </p:nvGrpSpPr>
      <p:grpSpPr>
        <a:xfrm>
          <a:off x="0" y="0"/>
          <a:ext cx="0" cy="0"/>
          <a:chOff x="0" y="0"/>
          <a:chExt cx="0" cy="0"/>
        </a:xfrm>
      </p:grpSpPr>
      <p:sp>
        <p:nvSpPr>
          <p:cNvPr id="2" name="TextBox 1"/>
          <p:cNvSpPr txBox="1"/>
          <p:nvPr/>
        </p:nvSpPr>
        <p:spPr>
          <a:xfrm>
            <a:off x="1371600" y="1097280"/>
            <a:ext cx="9144000" cy="646331"/>
          </a:xfrm>
          <a:prstGeom prst="rect">
            <a:avLst/>
          </a:prstGeom>
          <a:noFill/>
        </p:spPr>
        <p:txBody>
          <a:bodyPr wrap="square">
            <a:spAutoFit/>
          </a:bodyPr>
          <a:lstStyle/>
          <a:p>
            <a:pPr algn="l">
              <a:defRPr sz="3600" b="1" i="0">
                <a:solidFill>
                  <a:srgbClr val="F5F5F0"/>
                </a:solidFill>
                <a:latin typeface="Segoe UI"/>
              </a:defRPr>
            </a:pPr>
            <a:r>
              <a:rPr dirty="0"/>
              <a:t>Talk to an agentic digital twin yourself</a:t>
            </a:r>
          </a:p>
        </p:txBody>
      </p:sp>
      <p:pic>
        <p:nvPicPr>
          <p:cNvPr id="3" name="Picture 2" descr="qr-demo.png"/>
          <p:cNvPicPr>
            <a:picLocks noChangeAspect="1"/>
          </p:cNvPicPr>
          <p:nvPr/>
        </p:nvPicPr>
        <p:blipFill>
          <a:blip r:embed="rId3"/>
          <a:stretch>
            <a:fillRect/>
          </a:stretch>
        </p:blipFill>
        <p:spPr>
          <a:xfrm>
            <a:off x="4297680" y="2286000"/>
            <a:ext cx="3566160" cy="3200400"/>
          </a:xfrm>
          <a:prstGeom prst="rect">
            <a:avLst/>
          </a:prstGeom>
        </p:spPr>
      </p:pic>
      <p:sp>
        <p:nvSpPr>
          <p:cNvPr id="4" name="Rounded Rectangle 3"/>
          <p:cNvSpPr/>
          <p:nvPr/>
        </p:nvSpPr>
        <p:spPr>
          <a:xfrm>
            <a:off x="2286000" y="5760720"/>
            <a:ext cx="2286000" cy="548640"/>
          </a:xfrm>
          <a:prstGeom prst="roundRect">
            <a:avLst/>
          </a:prstGeom>
          <a:solidFill>
            <a:srgbClr val="151D30"/>
          </a:solidFill>
          <a:ln w="19050">
            <a:solidFill>
              <a:srgbClr val="6B728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0">
                <a:solidFill>
                  <a:srgbClr val="E8E4D9"/>
                </a:solidFill>
                <a:latin typeface="Segoe UI"/>
              </a:defRPr>
            </a:pPr>
            <a:r>
              <a:t>Edge AI</a:t>
            </a:r>
          </a:p>
        </p:txBody>
      </p:sp>
      <p:sp>
        <p:nvSpPr>
          <p:cNvPr id="5" name="Rounded Rectangle 4"/>
          <p:cNvSpPr/>
          <p:nvPr/>
        </p:nvSpPr>
        <p:spPr>
          <a:xfrm>
            <a:off x="5212080" y="5760720"/>
            <a:ext cx="2286000" cy="548640"/>
          </a:xfrm>
          <a:prstGeom prst="roundRect">
            <a:avLst/>
          </a:prstGeom>
          <a:solidFill>
            <a:srgbClr val="151D30"/>
          </a:solidFill>
          <a:ln w="19050">
            <a:solidFill>
              <a:srgbClr val="6B728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0">
                <a:solidFill>
                  <a:srgbClr val="E8E4D9"/>
                </a:solidFill>
                <a:latin typeface="Segoe UI"/>
              </a:defRPr>
            </a:pPr>
            <a:r>
              <a:t>Robotic Arm</a:t>
            </a:r>
          </a:p>
        </p:txBody>
      </p:sp>
      <p:sp>
        <p:nvSpPr>
          <p:cNvPr id="6" name="Rounded Rectangle 5"/>
          <p:cNvSpPr/>
          <p:nvPr/>
        </p:nvSpPr>
        <p:spPr>
          <a:xfrm>
            <a:off x="8138160" y="5760720"/>
            <a:ext cx="2286000" cy="548640"/>
          </a:xfrm>
          <a:prstGeom prst="roundRect">
            <a:avLst/>
          </a:prstGeom>
          <a:solidFill>
            <a:srgbClr val="151D30"/>
          </a:solidFill>
          <a:ln w="19050">
            <a:solidFill>
              <a:srgbClr val="6B728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0">
                <a:solidFill>
                  <a:srgbClr val="E8E4D9"/>
                </a:solidFill>
                <a:latin typeface="Segoe UI"/>
              </a:defRPr>
            </a:pPr>
            <a:r>
              <a:t>ADAS</a:t>
            </a:r>
          </a:p>
        </p:txBody>
      </p:sp>
      <p:sp>
        <p:nvSpPr>
          <p:cNvPr id="7" name="TextBox 6"/>
          <p:cNvSpPr txBox="1"/>
          <p:nvPr/>
        </p:nvSpPr>
        <p:spPr>
          <a:xfrm>
            <a:off x="0" y="6355080"/>
            <a:ext cx="12191695" cy="365760"/>
          </a:xfrm>
          <a:prstGeom prst="rect">
            <a:avLst/>
          </a:prstGeom>
          <a:noFill/>
        </p:spPr>
        <p:txBody>
          <a:bodyPr wrap="square">
            <a:spAutoFit/>
          </a:bodyPr>
          <a:lstStyle/>
          <a:p>
            <a:pPr algn="ctr">
              <a:defRPr sz="1800" b="0" i="0">
                <a:solidFill>
                  <a:srgbClr val="8B919C"/>
                </a:solidFill>
                <a:latin typeface="Segoe UI"/>
              </a:defRPr>
            </a:pPr>
            <a:r>
              <a:t>tonypdemo.it.com</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72A"/>
            </a:gs>
            <a:gs pos="100000">
              <a:srgbClr val="1E1E2E"/>
            </a:gs>
          </a:gsLst>
          <a:lin scaled="0"/>
        </a:gradFill>
        <a:effectLst/>
      </p:bgPr>
    </p:bg>
    <p:spTree>
      <p:nvGrpSpPr>
        <p:cNvPr id="1" name=""/>
        <p:cNvGrpSpPr/>
        <p:nvPr/>
      </p:nvGrpSpPr>
      <p:grpSpPr>
        <a:xfrm>
          <a:off x="0" y="0"/>
          <a:ext cx="0" cy="0"/>
          <a:chOff x="0" y="0"/>
          <a:chExt cx="0" cy="0"/>
        </a:xfrm>
      </p:grpSpPr>
      <p:sp>
        <p:nvSpPr>
          <p:cNvPr id="2" name="TextBox 1"/>
          <p:cNvSpPr txBox="1"/>
          <p:nvPr/>
        </p:nvSpPr>
        <p:spPr>
          <a:xfrm>
            <a:off x="1371600" y="1097280"/>
            <a:ext cx="9144000" cy="1097280"/>
          </a:xfrm>
          <a:prstGeom prst="rect">
            <a:avLst/>
          </a:prstGeom>
          <a:noFill/>
        </p:spPr>
        <p:txBody>
          <a:bodyPr wrap="square">
            <a:spAutoFit/>
          </a:bodyPr>
          <a:lstStyle/>
          <a:p>
            <a:pPr algn="l">
              <a:defRPr sz="5200" b="1" i="0">
                <a:solidFill>
                  <a:srgbClr val="F5F5F0"/>
                </a:solidFill>
                <a:latin typeface="Segoe UI"/>
              </a:defRPr>
            </a:pPr>
            <a:r>
              <a:rPr dirty="0"/>
              <a:t>Questions?</a:t>
            </a:r>
          </a:p>
        </p:txBody>
      </p:sp>
      <p:sp>
        <p:nvSpPr>
          <p:cNvPr id="3" name="Rectangle 2"/>
          <p:cNvSpPr/>
          <p:nvPr/>
        </p:nvSpPr>
        <p:spPr>
          <a:xfrm>
            <a:off x="1371600" y="2560320"/>
            <a:ext cx="2286000" cy="10972"/>
          </a:xfrm>
          <a:prstGeom prst="rect">
            <a:avLst/>
          </a:prstGeom>
          <a:solidFill>
            <a:srgbClr val="D4D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371600" y="3017520"/>
            <a:ext cx="5486400" cy="914400"/>
          </a:xfrm>
          <a:prstGeom prst="rect">
            <a:avLst/>
          </a:prstGeom>
          <a:noFill/>
        </p:spPr>
        <p:txBody>
          <a:bodyPr wrap="square">
            <a:spAutoFit/>
          </a:bodyPr>
          <a:lstStyle/>
          <a:p>
            <a:pPr algn="l">
              <a:defRPr sz="3600" b="1" i="0">
                <a:solidFill>
                  <a:srgbClr val="F5F5F0"/>
                </a:solidFill>
                <a:latin typeface="Segoe UI"/>
              </a:defRPr>
            </a:pPr>
            <a:r>
              <a:rPr dirty="0"/>
              <a:t>Anthony Poole</a:t>
            </a:r>
          </a:p>
        </p:txBody>
      </p:sp>
      <p:sp>
        <p:nvSpPr>
          <p:cNvPr id="5" name="TextBox 4"/>
          <p:cNvSpPr txBox="1"/>
          <p:nvPr/>
        </p:nvSpPr>
        <p:spPr>
          <a:xfrm>
            <a:off x="1371600" y="3749039"/>
            <a:ext cx="5486400" cy="548640"/>
          </a:xfrm>
          <a:prstGeom prst="rect">
            <a:avLst/>
          </a:prstGeom>
          <a:noFill/>
        </p:spPr>
        <p:txBody>
          <a:bodyPr wrap="square">
            <a:spAutoFit/>
          </a:bodyPr>
          <a:lstStyle/>
          <a:p>
            <a:pPr algn="l">
              <a:defRPr sz="2200" b="0" i="0">
                <a:solidFill>
                  <a:srgbClr val="E8E4D9"/>
                </a:solidFill>
                <a:latin typeface="Segoe UI"/>
              </a:defRPr>
            </a:pPr>
            <a:r>
              <a:rPr dirty="0"/>
              <a:t>Software Engineer, Microsoft</a:t>
            </a:r>
          </a:p>
        </p:txBody>
      </p:sp>
      <p:sp>
        <p:nvSpPr>
          <p:cNvPr id="6" name="TextBox 5"/>
          <p:cNvSpPr txBox="1"/>
          <p:nvPr/>
        </p:nvSpPr>
        <p:spPr>
          <a:xfrm>
            <a:off x="1371600" y="4389120"/>
            <a:ext cx="9144000" cy="457200"/>
          </a:xfrm>
          <a:prstGeom prst="rect">
            <a:avLst/>
          </a:prstGeom>
          <a:noFill/>
        </p:spPr>
        <p:txBody>
          <a:bodyPr wrap="square">
            <a:spAutoFit/>
          </a:bodyPr>
          <a:lstStyle/>
          <a:p>
            <a:pPr algn="l">
              <a:defRPr sz="2000" b="0" i="0">
                <a:solidFill>
                  <a:srgbClr val="8B919C"/>
                </a:solidFill>
                <a:latin typeface="Segoe UI"/>
              </a:defRPr>
            </a:pPr>
            <a:r>
              <a:t>anthony50102.github.io</a:t>
            </a:r>
          </a:p>
        </p:txBody>
      </p:sp>
      <p:sp>
        <p:nvSpPr>
          <p:cNvPr id="7" name="TextBox 6"/>
          <p:cNvSpPr txBox="1"/>
          <p:nvPr/>
        </p:nvSpPr>
        <p:spPr>
          <a:xfrm>
            <a:off x="1371600" y="4846320"/>
            <a:ext cx="9144000" cy="457200"/>
          </a:xfrm>
          <a:prstGeom prst="rect">
            <a:avLst/>
          </a:prstGeom>
          <a:noFill/>
        </p:spPr>
        <p:txBody>
          <a:bodyPr wrap="square">
            <a:spAutoFit/>
          </a:bodyPr>
          <a:lstStyle/>
          <a:p>
            <a:pPr algn="l">
              <a:defRPr sz="2000" b="0" i="0">
                <a:solidFill>
                  <a:srgbClr val="8B919C"/>
                </a:solidFill>
                <a:latin typeface="Segoe UI"/>
              </a:defRPr>
            </a:pPr>
            <a:r>
              <a:t>linkedin.com/in/anthony-poole-079548206</a:t>
            </a:r>
          </a:p>
        </p:txBody>
      </p:sp>
      <p:pic>
        <p:nvPicPr>
          <p:cNvPr id="8" name="Picture 7" descr="qr-personal.png"/>
          <p:cNvPicPr>
            <a:picLocks noChangeAspect="1"/>
          </p:cNvPicPr>
          <p:nvPr/>
        </p:nvPicPr>
        <p:blipFill>
          <a:blip r:embed="rId3"/>
          <a:stretch>
            <a:fillRect/>
          </a:stretch>
        </p:blipFill>
        <p:spPr>
          <a:xfrm>
            <a:off x="8412480" y="2560320"/>
            <a:ext cx="2926080" cy="2926080"/>
          </a:xfrm>
          <a:prstGeom prst="rect">
            <a:avLst/>
          </a:prstGeom>
        </p:spPr>
      </p:pic>
      <p:sp>
        <p:nvSpPr>
          <p:cNvPr id="9" name="TextBox 8"/>
          <p:cNvSpPr txBox="1"/>
          <p:nvPr/>
        </p:nvSpPr>
        <p:spPr>
          <a:xfrm>
            <a:off x="8229600" y="5532120"/>
            <a:ext cx="3291840" cy="365760"/>
          </a:xfrm>
          <a:prstGeom prst="rect">
            <a:avLst/>
          </a:prstGeom>
          <a:noFill/>
        </p:spPr>
        <p:txBody>
          <a:bodyPr wrap="square">
            <a:spAutoFit/>
          </a:bodyPr>
          <a:lstStyle/>
          <a:p>
            <a:pPr algn="ctr">
              <a:defRPr sz="1600" b="0" i="0">
                <a:solidFill>
                  <a:srgbClr val="8B919C"/>
                </a:solidFill>
                <a:latin typeface="Segoe UI"/>
              </a:defRPr>
            </a:pPr>
            <a:r>
              <a:t>anthony50102.github.io</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72A"/>
            </a:gs>
            <a:gs pos="100000">
              <a:srgbClr val="1E1E2E"/>
            </a:gs>
          </a:gsLst>
          <a:lin scaled="0"/>
        </a:gradFill>
        <a:effectLst/>
      </p:bgPr>
    </p:bg>
    <p:spTree>
      <p:nvGrpSpPr>
        <p:cNvPr id="1" name=""/>
        <p:cNvGrpSpPr/>
        <p:nvPr/>
      </p:nvGrpSpPr>
      <p:grpSpPr>
        <a:xfrm>
          <a:off x="0" y="0"/>
          <a:ext cx="0" cy="0"/>
          <a:chOff x="0" y="0"/>
          <a:chExt cx="0" cy="0"/>
        </a:xfrm>
      </p:grpSpPr>
      <p:sp>
        <p:nvSpPr>
          <p:cNvPr id="2" name="TextBox 1"/>
          <p:cNvSpPr txBox="1"/>
          <p:nvPr/>
        </p:nvSpPr>
        <p:spPr>
          <a:xfrm>
            <a:off x="1371600" y="2286000"/>
            <a:ext cx="9144000" cy="1077218"/>
          </a:xfrm>
          <a:prstGeom prst="rect">
            <a:avLst/>
          </a:prstGeom>
          <a:noFill/>
        </p:spPr>
        <p:txBody>
          <a:bodyPr wrap="square">
            <a:spAutoFit/>
          </a:bodyPr>
          <a:lstStyle/>
          <a:p>
            <a:pPr algn="l">
              <a:defRPr sz="3200" b="0" i="1">
                <a:solidFill>
                  <a:srgbClr val="E8E4D9"/>
                </a:solidFill>
                <a:latin typeface="Segoe UI"/>
              </a:defRPr>
            </a:pPr>
            <a:r>
              <a:rPr dirty="0"/>
              <a:t>Digital twins give us the body</a:t>
            </a:r>
            <a:br>
              <a:rPr dirty="0"/>
            </a:br>
            <a:r>
              <a:rPr dirty="0"/>
              <a:t>It's time to consider the mind</a:t>
            </a:r>
          </a:p>
        </p:txBody>
      </p:sp>
      <p:sp>
        <p:nvSpPr>
          <p:cNvPr id="3" name="Rectangle 2"/>
          <p:cNvSpPr/>
          <p:nvPr/>
        </p:nvSpPr>
        <p:spPr>
          <a:xfrm>
            <a:off x="1371600" y="4846320"/>
            <a:ext cx="2286000" cy="10972"/>
          </a:xfrm>
          <a:prstGeom prst="rect">
            <a:avLst/>
          </a:prstGeom>
          <a:solidFill>
            <a:srgbClr val="D4D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371600" y="5120640"/>
            <a:ext cx="5486400" cy="430887"/>
          </a:xfrm>
          <a:prstGeom prst="rect">
            <a:avLst/>
          </a:prstGeom>
          <a:noFill/>
        </p:spPr>
        <p:txBody>
          <a:bodyPr wrap="square">
            <a:spAutoFit/>
          </a:bodyPr>
          <a:lstStyle/>
          <a:p>
            <a:pPr algn="l">
              <a:defRPr sz="2200" b="0" i="0">
                <a:solidFill>
                  <a:srgbClr val="E8E4D9"/>
                </a:solidFill>
                <a:latin typeface="Segoe UI"/>
              </a:defRPr>
            </a:pPr>
            <a:r>
              <a:rPr dirty="0"/>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92</TotalTime>
  <Words>1817</Words>
  <Application>Microsoft Office PowerPoint</Application>
  <PresentationFormat>Widescreen</PresentationFormat>
  <Paragraphs>176</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Anthony Poole</dc:creator>
  <cp:keywords/>
  <dc:description>generated using python-pptx</dc:description>
  <cp:lastModifiedBy>Anthony Poole</cp:lastModifiedBy>
  <cp:revision>3</cp:revision>
  <dcterms:created xsi:type="dcterms:W3CDTF">2013-01-27T09:14:16Z</dcterms:created>
  <dcterms:modified xsi:type="dcterms:W3CDTF">2026-04-10T23:56:59Z</dcterms:modified>
  <cp:category/>
</cp:coreProperties>
</file>